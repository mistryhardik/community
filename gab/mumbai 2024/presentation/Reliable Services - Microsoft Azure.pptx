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8"/>
  </p:notesMasterIdLst>
  <p:sldIdLst>
    <p:sldId id="3743" r:id="rId2"/>
    <p:sldId id="3771" r:id="rId3"/>
    <p:sldId id="3775" r:id="rId4"/>
    <p:sldId id="3777" r:id="rId5"/>
    <p:sldId id="3783" r:id="rId6"/>
    <p:sldId id="3778" r:id="rId7"/>
    <p:sldId id="3779" r:id="rId8"/>
    <p:sldId id="3781" r:id="rId9"/>
    <p:sldId id="3782" r:id="rId10"/>
    <p:sldId id="3784" r:id="rId11"/>
    <p:sldId id="337" r:id="rId12"/>
    <p:sldId id="3780" r:id="rId13"/>
    <p:sldId id="338" r:id="rId14"/>
    <p:sldId id="3785" r:id="rId15"/>
    <p:sldId id="3786" r:id="rId16"/>
    <p:sldId id="3737" r:id="rId1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7"/>
    <a:srgbClr val="5B2C89"/>
    <a:srgbClr val="008272"/>
    <a:srgbClr val="6821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6F574-505F-452C-BF07-5285D9246300}" v="1233" dt="2023-05-03T16:55:15.675"/>
    <p1510:client id="{2B68C038-8D22-4B6E-85CC-DB43D6EE3788}" v="62" dt="2023-05-07T09:25:37.036"/>
    <p1510:client id="{3C73E943-72EB-4543-98A7-1AC88893FFCC}" v="14" dt="2021-03-04T19:11:00.896"/>
    <p1510:client id="{5873C4D6-1ED4-4C9C-B9FF-2624EE27598A}" v="1010" dt="2023-05-07T14:29:44.555"/>
    <p1510:client id="{667ED40A-A733-46A2-9CA9-3A1CE85E3813}" v="60" dt="2021-03-04T19:05:56.845"/>
    <p1510:client id="{84422772-832C-4BD1-AF9C-612593AF0B0E}" v="4263" dt="2023-05-07T09:20:37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3" autoAdjust="0"/>
    <p:restoredTop sz="94607"/>
  </p:normalViewPr>
  <p:slideViewPr>
    <p:cSldViewPr snapToGrid="0">
      <p:cViewPr varScale="1">
        <p:scale>
          <a:sx n="124" d="100"/>
          <a:sy n="124" d="100"/>
        </p:scale>
        <p:origin x="6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099"/>
    </p:cViewPr>
  </p:sorterViewPr>
  <p:notesViewPr>
    <p:cSldViewPr snapToGrid="0">
      <p:cViewPr varScale="1">
        <p:scale>
          <a:sx n="66" d="100"/>
          <a:sy n="66" d="100"/>
        </p:scale>
        <p:origin x="2453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D5504-259E-49B8-96D1-07556F3566A0}" type="datetimeFigureOut">
              <a:rPr lang="nl-NL" smtClean="0"/>
              <a:t>29-04-2024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E0C9A-AD5C-465A-A7A9-9C5948BDA9C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884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rchitecture/reference-architectures/app-service-web-app/multi-region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B9D4F-5F19-438C-92E8-037C6AE8F8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65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some challenges which have impacted us in one way or another.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We generally do not like to talk and that leads to too many assumptions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Due to lack to clear communication and feedback we end up in a never ending dilemma of what the customer really wants and that makes us plan for things inefficiently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This collectively leads to slower Time to Market for your customer(s)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6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2D3714-B553-A044-BA72-366907BA36B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5233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Alright so here are some thoughts around why is DevOps important?</a:t>
            </a:r>
          </a:p>
          <a:p>
            <a:endParaRPr lang="en-US" dirty="0"/>
          </a:p>
          <a:p>
            <a:r>
              <a:rPr lang="en-IN" sz="882" b="0" i="0" u="none" strike="noStrike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promises speed: delivering value to customers, reducing cycle time, faster time to market, shorter mean-time-to-resolution.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4/29/24 8:33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025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Alright so here are some thoughts around why is DevOps important?</a:t>
            </a:r>
          </a:p>
          <a:p>
            <a:endParaRPr lang="en-US" dirty="0"/>
          </a:p>
          <a:p>
            <a:r>
              <a:rPr lang="en-IN" sz="882" b="0" i="0" u="none" strike="noStrike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promises speed: delivering value to customers, reducing cycle time, faster time to market, shorter mean-time-to-resolution.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4/29/24 8:33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827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Alright so here are some thoughts around why is DevOps important?</a:t>
            </a:r>
          </a:p>
          <a:p>
            <a:endParaRPr lang="en-US" dirty="0"/>
          </a:p>
          <a:p>
            <a:r>
              <a:rPr lang="en-IN" sz="882" b="0" i="0" u="none" strike="noStrike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promises speed: delivering value to customers, reducing cycle time, faster time to market, shorter mean-time-to-resolution.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4/29/24 8:33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81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MS content: </a:t>
            </a:r>
            <a:r>
              <a:rPr lang="en-US" dirty="0">
                <a:hlinkClick r:id="rId3"/>
              </a:rPr>
              <a:t>Highly available multi-region web app - Azure Architecture Center | Microsoft Learn</a:t>
            </a:r>
            <a:endParaRPr lang="en-US" b="0" i="0" u="none" strike="noStrike" kern="1200" dirty="0">
              <a:solidFill>
                <a:schemeClr val="tx1"/>
              </a:solidFill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4/29/24 8:33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486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Alright so here are some thoughts around why is DevOps important?</a:t>
            </a:r>
          </a:p>
          <a:p>
            <a:endParaRPr lang="en-US" dirty="0"/>
          </a:p>
          <a:p>
            <a:r>
              <a:rPr lang="en-IN" sz="882" b="0" i="0" u="none" strike="noStrike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promises speed: delivering value to customers, reducing cycle time, faster time to market, shorter mean-time-to-resolution.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4/29/24 8:33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189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Alright so here are some thoughts around why is DevOps important?</a:t>
            </a:r>
          </a:p>
          <a:p>
            <a:endParaRPr lang="en-US" dirty="0"/>
          </a:p>
          <a:p>
            <a:r>
              <a:rPr lang="en-IN" sz="882" b="0" i="0" u="none" strike="noStrike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promises speed: delivering value to customers, reducing cycle time, faster time to market, shorter mean-time-to-resolution.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4/29/24 8:33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007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Alright so here are some thoughts around why is DevOps important?</a:t>
            </a:r>
          </a:p>
          <a:p>
            <a:endParaRPr lang="en-US" dirty="0"/>
          </a:p>
          <a:p>
            <a:r>
              <a:rPr lang="en-IN" sz="882" b="0" i="0" u="none" strike="noStrike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promises speed: delivering value to customers, reducing cycle time, faster time to market, shorter mean-time-to-resolution.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4/29/24 8:33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045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Alright so here are some thoughts around why is DevOps important?</a:t>
            </a:r>
          </a:p>
          <a:p>
            <a:endParaRPr lang="en-US" dirty="0"/>
          </a:p>
          <a:p>
            <a:r>
              <a:rPr lang="en-IN" sz="882" b="0" i="0" u="none" strike="noStrike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promises speed: delivering value to customers, reducing cycle time, faster time to market, shorter mean-time-to-resolution.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4/29/24 8:33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375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Link to MS content: </a:t>
            </a:r>
            <a:r>
              <a:rPr lang="en-US" dirty="0"/>
              <a:t>https://learn.microsoft.com/en-us/azure/azure-monitor/autoscale/autoscale-get-started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E0C9A-AD5C-465A-A7A9-9C5948BDA9CF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8771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Alright so here are some thoughts around why is DevOps important?</a:t>
            </a:r>
          </a:p>
          <a:p>
            <a:endParaRPr lang="en-US" dirty="0"/>
          </a:p>
          <a:p>
            <a:r>
              <a:rPr lang="en-IN" sz="882" b="0" i="0" u="none" strike="noStrike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promises speed: delivering value to customers, reducing cycle time, faster time to market, shorter mean-time-to-resolution.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4/29/24 8:33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560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Alright so here are some thoughts around why is DevOps important?</a:t>
            </a:r>
          </a:p>
          <a:p>
            <a:endParaRPr lang="en-US" dirty="0"/>
          </a:p>
          <a:p>
            <a:r>
              <a:rPr lang="en-IN" sz="882" b="0" i="0" u="none" strike="noStrike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promises speed: delivering value to customers, reducing cycle time, faster time to market, shorter mean-time-to-resolution.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4/29/24 8:33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50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Alright so here are some thoughts around why is DevOps important?</a:t>
            </a:r>
          </a:p>
          <a:p>
            <a:endParaRPr lang="en-US" dirty="0"/>
          </a:p>
          <a:p>
            <a:r>
              <a:rPr lang="en-IN" sz="882" b="0" i="0" u="none" strike="noStrike" kern="1200" dirty="0">
                <a:solidFill>
                  <a:schemeClr val="tx1"/>
                </a:solidFill>
                <a:effectLst/>
                <a:latin typeface="Segoe UI Light" pitchFamily="34" charset="0"/>
                <a:ea typeface="+mn-ea"/>
                <a:cs typeface="+mn-cs"/>
              </a:rPr>
              <a:t>DevOps promises speed: delivering value to customers, reducing cycle time, faster time to market, shorter mean-time-to-resolution.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4/29/24 8:33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062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Join the conversation.</a:t>
            </a:r>
          </a:p>
          <a:p>
            <a:endParaRPr lang="en-GB" dirty="0"/>
          </a:p>
          <a:p>
            <a:r>
              <a:rPr lang="en-GB" dirty="0"/>
              <a:t>P</a:t>
            </a:r>
            <a:r>
              <a:rPr lang="en-US" dirty="0" err="1"/>
              <a:t>otentially</a:t>
            </a:r>
            <a:r>
              <a:rPr lang="en-US" dirty="0"/>
              <a:t> replace for speaker contact details / intro.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B9D4F-5F19-438C-92E8-037C6AE8F87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78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271104" y="3877271"/>
            <a:ext cx="6273418" cy="1794661"/>
          </a:xfrm>
          <a:noFill/>
        </p:spPr>
        <p:txBody>
          <a:bodyPr tIns="109728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69303" y="2075840"/>
            <a:ext cx="9860610" cy="1801436"/>
          </a:xfrm>
          <a:noFill/>
        </p:spPr>
        <p:txBody>
          <a:bodyPr anchorCtr="0"/>
          <a:lstStyle>
            <a:lvl1pPr>
              <a:defRPr sz="5882" spc="-98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1268319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1349" y="655172"/>
            <a:ext cx="8965201" cy="620282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ltGray">
          <a:xfrm>
            <a:off x="269302" y="2075841"/>
            <a:ext cx="6727791" cy="3573757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solidFill>
                <a:srgbClr val="FF8C00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271104" y="4263287"/>
            <a:ext cx="6273418" cy="1239992"/>
          </a:xfrm>
          <a:noFill/>
        </p:spPr>
        <p:txBody>
          <a:bodyPr tIns="109728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69304" y="2291187"/>
            <a:ext cx="6491234" cy="1972099"/>
          </a:xfrm>
          <a:noFill/>
        </p:spPr>
        <p:txBody>
          <a:bodyPr anchorCtr="0"/>
          <a:lstStyle>
            <a:lvl1pPr>
              <a:defRPr sz="5882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5974523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178974" y="1545619"/>
            <a:ext cx="11833364" cy="3586208"/>
          </a:xfrm>
          <a:prstGeom prst="rect">
            <a:avLst/>
          </a:prstGeom>
          <a:solidFill>
            <a:srgbClr val="58288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79285" tIns="143428" rIns="179285" bIns="143428"/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2353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02" y="2081644"/>
            <a:ext cx="8964185" cy="1795633"/>
          </a:xfrm>
          <a:noFill/>
        </p:spPr>
        <p:txBody>
          <a:bodyPr anchorCtr="0"/>
          <a:lstStyle>
            <a:lvl1pPr>
              <a:defRPr sz="5882" spc="-98" baseline="0"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276682" y="3697963"/>
            <a:ext cx="8964185" cy="1793105"/>
          </a:xfrm>
          <a:noFill/>
        </p:spPr>
        <p:txBody>
          <a:bodyPr tIns="109728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2127492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rgbClr val="5828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39" y="2084172"/>
            <a:ext cx="11653523" cy="1796217"/>
          </a:xfrm>
          <a:noFill/>
        </p:spPr>
        <p:txBody>
          <a:bodyPr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870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Accent Colo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39" y="2084172"/>
            <a:ext cx="11653523" cy="1796217"/>
          </a:xfrm>
          <a:noFill/>
        </p:spPr>
        <p:txBody>
          <a:bodyPr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754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 1 line titl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39" y="2084172"/>
            <a:ext cx="11653523" cy="1154394"/>
          </a:xfrm>
          <a:noFill/>
        </p:spPr>
        <p:txBody>
          <a:bodyPr anchorCtr="0"/>
          <a:lstStyle>
            <a:lvl1pPr>
              <a:defRPr sz="7058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0" y="3601229"/>
            <a:ext cx="5904576" cy="724246"/>
          </a:xfrm>
        </p:spPr>
        <p:txBody>
          <a:bodyPr/>
          <a:lstStyle>
            <a:lvl1pPr marL="0" indent="0">
              <a:buNone/>
              <a:defRPr/>
            </a:lvl1pPr>
            <a:lvl2pPr marL="336145" indent="0">
              <a:buNone/>
              <a:defRPr/>
            </a:lvl2pPr>
            <a:lvl3pPr marL="560241" indent="0">
              <a:buNone/>
              <a:defRPr/>
            </a:lvl3pPr>
            <a:lvl4pPr marL="784338" indent="0">
              <a:buNone/>
              <a:defRPr/>
            </a:lvl4pPr>
            <a:lvl5pPr marL="1008435" indent="0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6450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 slide 2 line titl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39" y="2084172"/>
            <a:ext cx="11653523" cy="2059971"/>
          </a:xfrm>
          <a:noFill/>
        </p:spPr>
        <p:txBody>
          <a:bodyPr anchorCtr="0"/>
          <a:lstStyle>
            <a:lvl1pPr>
              <a:defRPr sz="7058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0" y="4506806"/>
            <a:ext cx="5904576" cy="724246"/>
          </a:xfrm>
        </p:spPr>
        <p:txBody>
          <a:bodyPr/>
          <a:lstStyle>
            <a:lvl1pPr marL="0" indent="0">
              <a:buNone/>
              <a:defRPr/>
            </a:lvl1pPr>
            <a:lvl2pPr marL="336145" indent="0">
              <a:buNone/>
              <a:defRPr/>
            </a:lvl2pPr>
            <a:lvl3pPr marL="560241" indent="0">
              <a:buNone/>
              <a:defRPr/>
            </a:lvl3pPr>
            <a:lvl4pPr marL="784338" indent="0">
              <a:buNone/>
              <a:defRPr/>
            </a:lvl4pPr>
            <a:lvl5pPr marL="1008435" indent="0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960273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rgbClr val="169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39" y="2084172"/>
            <a:ext cx="11653523" cy="1796217"/>
          </a:xfrm>
          <a:noFill/>
        </p:spPr>
        <p:txBody>
          <a:bodyPr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883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rgbClr val="F38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39" y="2084172"/>
            <a:ext cx="11653523" cy="1796217"/>
          </a:xfrm>
          <a:noFill/>
        </p:spPr>
        <p:txBody>
          <a:bodyPr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190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269303" y="2084172"/>
            <a:ext cx="5378485" cy="3586208"/>
          </a:xfrm>
          <a:solidFill>
            <a:schemeClr val="tx2"/>
          </a:solidFill>
        </p:spPr>
        <p:txBody>
          <a:bodyPr lIns="146304" tIns="91440" rIns="146304" bIns="91440" anchor="t" anchorCtr="0"/>
          <a:lstStyle>
            <a:lvl1pPr>
              <a:defRPr sz="5882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Pull quote</a:t>
            </a:r>
          </a:p>
        </p:txBody>
      </p:sp>
    </p:spTree>
    <p:extLst>
      <p:ext uri="{BB962C8B-B14F-4D97-AF65-F5344CB8AC3E}">
        <p14:creationId xmlns:p14="http://schemas.microsoft.com/office/powerpoint/2010/main" val="231019130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with proof poi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268928" y="291102"/>
            <a:ext cx="11653834" cy="2252178"/>
          </a:xfrm>
        </p:spPr>
        <p:txBody>
          <a:bodyPr/>
          <a:lstStyle>
            <a:lvl1pPr>
              <a:defRPr sz="5686">
                <a:gradFill>
                  <a:gsLst>
                    <a:gs pos="6195">
                      <a:schemeClr val="tx1"/>
                    </a:gs>
                    <a:gs pos="26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269239" y="2870943"/>
            <a:ext cx="11653523" cy="615609"/>
          </a:xfrm>
        </p:spPr>
        <p:txBody>
          <a:bodyPr/>
          <a:lstStyle>
            <a:lvl1pPr marL="280121" indent="-280121">
              <a:buFont typeface="Arial" panose="020B0604020202020204" pitchFamily="34" charset="0"/>
              <a:buChar char="•"/>
              <a:defRPr sz="3137">
                <a:gradFill>
                  <a:gsLst>
                    <a:gs pos="94690">
                      <a:schemeClr val="tx1"/>
                    </a:gs>
                    <a:gs pos="86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  <a:lvl2pPr>
              <a:defRPr sz="1568">
                <a:gradFill>
                  <a:gsLst>
                    <a:gs pos="94030">
                      <a:srgbClr val="FFFFFF"/>
                    </a:gs>
                    <a:gs pos="68000">
                      <a:srgbClr val="FFFFFF"/>
                    </a:gs>
                  </a:gsLst>
                  <a:lin ang="5400000" scaled="0"/>
                </a:gradFill>
              </a:defRPr>
            </a:lvl2pPr>
            <a:lvl3pPr>
              <a:defRPr sz="1568">
                <a:gradFill>
                  <a:gsLst>
                    <a:gs pos="94030">
                      <a:srgbClr val="FFFFFF"/>
                    </a:gs>
                    <a:gs pos="68000">
                      <a:srgbClr val="FFFFFF"/>
                    </a:gs>
                  </a:gsLst>
                  <a:lin ang="5400000" scaled="0"/>
                </a:gradFill>
              </a:defRPr>
            </a:lvl3pPr>
            <a:lvl4pPr>
              <a:defRPr sz="1568">
                <a:gradFill>
                  <a:gsLst>
                    <a:gs pos="94030">
                      <a:srgbClr val="FFFFFF"/>
                    </a:gs>
                    <a:gs pos="68000">
                      <a:srgbClr val="FFFFFF"/>
                    </a:gs>
                  </a:gsLst>
                  <a:lin ang="5400000" scaled="0"/>
                </a:gradFill>
              </a:defRPr>
            </a:lvl4pPr>
            <a:lvl5pPr>
              <a:defRPr sz="1568">
                <a:gradFill>
                  <a:gsLst>
                    <a:gs pos="94030">
                      <a:srgbClr val="FFFFFF"/>
                    </a:gs>
                    <a:gs pos="68000">
                      <a:srgbClr val="FFFFFF"/>
                    </a:gs>
                  </a:gsLst>
                  <a:lin ang="5400000" scaled="0"/>
                </a:gra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736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9845" y="2774931"/>
            <a:ext cx="4522155" cy="40830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1" y="1217195"/>
            <a:ext cx="5378548" cy="899665"/>
          </a:xfrm>
        </p:spPr>
        <p:txBody>
          <a:bodyPr/>
          <a:lstStyle>
            <a:lvl1pPr>
              <a:defRPr sz="647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884879" y="949"/>
            <a:ext cx="4307121" cy="127073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433785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2773602"/>
            <a:ext cx="4523625" cy="40843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7487" y="1217195"/>
            <a:ext cx="5378548" cy="899665"/>
          </a:xfrm>
        </p:spPr>
        <p:txBody>
          <a:bodyPr/>
          <a:lstStyle>
            <a:lvl1pPr>
              <a:defRPr sz="647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" y="949"/>
            <a:ext cx="4305563" cy="127073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69439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136525"/>
          </a:xfrm>
        </p:spPr>
        <p:txBody>
          <a:bodyPr/>
          <a:lstStyle>
            <a:lvl1pPr marL="0" indent="0">
              <a:spcBef>
                <a:spcPts val="980"/>
              </a:spcBef>
              <a:spcAft>
                <a:spcPts val="1176"/>
              </a:spcAft>
              <a:buNone/>
              <a:defRPr>
                <a:solidFill>
                  <a:srgbClr val="505050"/>
                </a:solidFill>
              </a:defRPr>
            </a:lvl1pPr>
            <a:lvl2pPr marL="0" indent="0">
              <a:buFontTx/>
              <a:buNone/>
              <a:defRPr sz="1961">
                <a:solidFill>
                  <a:srgbClr val="505050"/>
                </a:solidFill>
              </a:defRPr>
            </a:lvl2pPr>
            <a:lvl3pPr marL="224097" indent="0">
              <a:buNone/>
              <a:defRPr>
                <a:solidFill>
                  <a:srgbClr val="505050"/>
                </a:solidFill>
              </a:defRPr>
            </a:lvl3pPr>
            <a:lvl4pPr marL="448193" indent="0">
              <a:buNone/>
              <a:defRPr>
                <a:solidFill>
                  <a:srgbClr val="505050"/>
                </a:solidFill>
              </a:defRPr>
            </a:lvl4pPr>
            <a:lvl5pPr marL="672290" indent="0">
              <a:buNone/>
              <a:defRPr>
                <a:solidFill>
                  <a:srgbClr val="50505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950877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8874570" cy="11670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05296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73264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06723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7195933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056556"/>
          </a:xfrm>
        </p:spPr>
        <p:txBody>
          <a:bodyPr/>
          <a:lstStyle>
            <a:lvl1pPr>
              <a:defRPr>
                <a:solidFill>
                  <a:srgbClr val="58288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612010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6"/>
            <a:ext cx="5378548" cy="2420188"/>
          </a:xfrm>
        </p:spPr>
        <p:txBody>
          <a:bodyPr/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>
                <a:solidFill>
                  <a:srgbClr val="582881"/>
                </a:solidFill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4" y="1189176"/>
            <a:ext cx="5378548" cy="2420188"/>
          </a:xfrm>
        </p:spPr>
        <p:txBody>
          <a:bodyPr/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>
                <a:solidFill>
                  <a:srgbClr val="582881"/>
                </a:solidFill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7399579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6"/>
            <a:ext cx="5378548" cy="2420188"/>
          </a:xfrm>
        </p:spPr>
        <p:txBody>
          <a:bodyPr/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4" y="1189176"/>
            <a:ext cx="5378548" cy="2420188"/>
          </a:xfrm>
        </p:spPr>
        <p:txBody>
          <a:bodyPr/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5661933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6"/>
            <a:ext cx="5378548" cy="2486578"/>
          </a:xfrm>
        </p:spPr>
        <p:txBody>
          <a:bodyPr/>
          <a:lstStyle>
            <a:lvl1pPr marL="281677" indent="-281677"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sz="3529"/>
            </a:lvl1pPr>
            <a:lvl2pPr marL="520702" indent="-228601">
              <a:defRPr sz="2353"/>
            </a:lvl2pPr>
            <a:lvl3pPr marL="685803" indent="-165101">
              <a:tabLst/>
              <a:defRPr sz="1961"/>
            </a:lvl3pPr>
            <a:lvl4pPr marL="863603" indent="-177801">
              <a:defRPr/>
            </a:lvl4pPr>
            <a:lvl5pPr marL="1028704" indent="-165101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4" y="1189176"/>
            <a:ext cx="5378548" cy="2486578"/>
          </a:xfrm>
        </p:spPr>
        <p:txBody>
          <a:bodyPr/>
          <a:lstStyle>
            <a:lvl1pPr marL="281677" indent="-281677"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sz="3529"/>
            </a:lvl1pPr>
            <a:lvl2pPr marL="520702" indent="-228601">
              <a:defRPr sz="2353"/>
            </a:lvl2pPr>
            <a:lvl3pPr marL="685803" indent="-165101">
              <a:tabLst/>
              <a:defRPr sz="1961"/>
            </a:lvl3pPr>
            <a:lvl4pPr marL="863603" indent="-177801">
              <a:defRPr/>
            </a:lvl4pPr>
            <a:lvl5pPr marL="1028704" indent="-165101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601355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6"/>
            <a:ext cx="5378548" cy="2486578"/>
          </a:xfrm>
        </p:spPr>
        <p:txBody>
          <a:bodyPr/>
          <a:lstStyle>
            <a:lvl1pPr marL="281677" indent="-281677">
              <a:spcBef>
                <a:spcPts val="1200"/>
              </a:spcBef>
              <a:buClr>
                <a:schemeClr val="tx2"/>
              </a:buClr>
              <a:buFont typeface="Arial" pitchFamily="34" charset="0"/>
              <a:buChar char="•"/>
              <a:defRPr sz="3529">
                <a:solidFill>
                  <a:srgbClr val="582881"/>
                </a:solidFill>
              </a:defRPr>
            </a:lvl1pPr>
            <a:lvl2pPr marL="520702" indent="-228601">
              <a:defRPr sz="2353"/>
            </a:lvl2pPr>
            <a:lvl3pPr marL="685803" indent="-165101">
              <a:tabLst/>
              <a:defRPr sz="1961"/>
            </a:lvl3pPr>
            <a:lvl4pPr marL="863603" indent="-177801">
              <a:defRPr/>
            </a:lvl4pPr>
            <a:lvl5pPr marL="1028704" indent="-165101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4" y="1189176"/>
            <a:ext cx="5378548" cy="2486578"/>
          </a:xfrm>
        </p:spPr>
        <p:txBody>
          <a:bodyPr/>
          <a:lstStyle>
            <a:lvl1pPr marL="281677" indent="-281677">
              <a:spcBef>
                <a:spcPts val="1200"/>
              </a:spcBef>
              <a:buClr>
                <a:schemeClr val="tx2"/>
              </a:buClr>
              <a:buFont typeface="Arial" pitchFamily="34" charset="0"/>
              <a:buChar char="•"/>
              <a:defRPr sz="3529">
                <a:solidFill>
                  <a:srgbClr val="582881"/>
                </a:solidFill>
              </a:defRPr>
            </a:lvl1pPr>
            <a:lvl2pPr marL="520702" indent="-228601">
              <a:defRPr sz="2353"/>
            </a:lvl2pPr>
            <a:lvl3pPr marL="685803" indent="-165101">
              <a:tabLst/>
              <a:defRPr sz="1961"/>
            </a:lvl3pPr>
            <a:lvl4pPr marL="863603" indent="-177801">
              <a:defRPr/>
            </a:lvl4pPr>
            <a:lvl5pPr marL="1028704" indent="-165101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867763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705985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enario/Next Step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itle 1"/>
          <p:cNvSpPr txBox="1">
            <a:spLocks/>
          </p:cNvSpPr>
          <p:nvPr userDrawn="1"/>
        </p:nvSpPr>
        <p:spPr>
          <a:xfrm>
            <a:off x="268927" y="1645047"/>
            <a:ext cx="4482436" cy="4482760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143428" tIns="89642" rIns="143428" bIns="89642" rtlCol="0" anchor="t">
            <a:noAutofit/>
          </a:bodyPr>
          <a:lstStyle>
            <a:lvl1pPr algn="l" defTabSz="9318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4800" kern="1200" spc="-102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MS PGothic" pitchFamily="34" charset="-128"/>
                <a:cs typeface="Segoe UI" pitchFamily="34" charset="0"/>
              </a:defRPr>
            </a:lvl1pPr>
            <a:lvl2pPr algn="l" defTabSz="9318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1"/>
                </a:solidFill>
                <a:latin typeface="Segoe UI Light" pitchFamily="34" charset="0"/>
                <a:ea typeface="MS PGothic" pitchFamily="34" charset="-128"/>
              </a:defRPr>
            </a:lvl2pPr>
            <a:lvl3pPr algn="l" defTabSz="9318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1"/>
                </a:solidFill>
                <a:latin typeface="Segoe UI Light" pitchFamily="34" charset="0"/>
                <a:ea typeface="MS PGothic" pitchFamily="34" charset="-128"/>
              </a:defRPr>
            </a:lvl3pPr>
            <a:lvl4pPr algn="l" defTabSz="9318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1"/>
                </a:solidFill>
                <a:latin typeface="Segoe UI Light" pitchFamily="34" charset="0"/>
                <a:ea typeface="MS PGothic" pitchFamily="34" charset="-128"/>
              </a:defRPr>
            </a:lvl4pPr>
            <a:lvl5pPr algn="l" defTabSz="9318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1"/>
                </a:solidFill>
                <a:latin typeface="Segoe UI Light" pitchFamily="34" charset="0"/>
                <a:ea typeface="MS PGothic" pitchFamily="34" charset="-128"/>
              </a:defRPr>
            </a:lvl5pPr>
            <a:lvl6pPr marL="457200" algn="l" defTabSz="9318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1"/>
                </a:solidFill>
                <a:latin typeface="Segoe UI Light" pitchFamily="34" charset="0"/>
                <a:ea typeface="MS PGothic" pitchFamily="34" charset="-128"/>
              </a:defRPr>
            </a:lvl6pPr>
            <a:lvl7pPr marL="914400" algn="l" defTabSz="9318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1"/>
                </a:solidFill>
                <a:latin typeface="Segoe UI Light" pitchFamily="34" charset="0"/>
                <a:ea typeface="MS PGothic" pitchFamily="34" charset="-128"/>
              </a:defRPr>
            </a:lvl7pPr>
            <a:lvl8pPr marL="1371600" algn="l" defTabSz="9318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1"/>
                </a:solidFill>
                <a:latin typeface="Segoe UI Light" pitchFamily="34" charset="0"/>
                <a:ea typeface="MS PGothic" pitchFamily="34" charset="-128"/>
              </a:defRPr>
            </a:lvl8pPr>
            <a:lvl9pPr marL="1828800" algn="l" defTabSz="931863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tx1"/>
                </a:solidFill>
                <a:latin typeface="Segoe UI Light" pitchFamily="34" charset="0"/>
                <a:ea typeface="MS PGothic" pitchFamily="34" charset="-128"/>
              </a:defRPr>
            </a:lvl9pPr>
          </a:lstStyle>
          <a:p>
            <a:endParaRPr sz="4705" dirty="0">
              <a:solidFill>
                <a:srgbClr val="FFFFFF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187126" y="1645236"/>
            <a:ext cx="6282755" cy="684010"/>
          </a:xfrm>
        </p:spPr>
        <p:txBody>
          <a:bodyPr/>
          <a:lstStyle>
            <a:lvl1pPr marL="0" marR="0" indent="0" algn="l" defTabSz="913505" rtl="0" eaLnBrk="1" fontAlgn="base" latinLnBrk="0" hangingPunct="1">
              <a:lnSpc>
                <a:spcPts val="3921"/>
              </a:lnSpc>
              <a:spcBef>
                <a:spcPts val="980"/>
              </a:spcBef>
              <a:spcAft>
                <a:spcPts val="1961"/>
              </a:spcAft>
              <a:buClrTx/>
              <a:buSzPct val="90000"/>
              <a:buFont typeface="Arial" pitchFamily="34" charset="0"/>
              <a:buNone/>
              <a:tabLst/>
              <a:defRPr sz="3137"/>
            </a:lvl1pPr>
          </a:lstStyle>
          <a:p>
            <a:pPr lvl="0"/>
            <a:r>
              <a:rPr lang="en-US" dirty="0"/>
              <a:t>Segoe UI light 32pt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05796" y="1860034"/>
            <a:ext cx="3976328" cy="1267431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Segoe UI light 40pt</a:t>
            </a:r>
          </a:p>
        </p:txBody>
      </p:sp>
    </p:spTree>
    <p:extLst>
      <p:ext uri="{BB962C8B-B14F-4D97-AF65-F5344CB8AC3E}">
        <p14:creationId xmlns:p14="http://schemas.microsoft.com/office/powerpoint/2010/main" val="3696961604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316811"/>
            <a:ext cx="4953680" cy="615609"/>
          </a:xfrm>
        </p:spPr>
        <p:txBody>
          <a:bodyPr/>
          <a:lstStyle>
            <a:lvl1pPr marL="0" indent="0">
              <a:buNone/>
              <a:defRPr sz="3137">
                <a:solidFill>
                  <a:srgbClr val="505050"/>
                </a:solidFill>
              </a:defRPr>
            </a:lvl1pPr>
            <a:lvl2pPr marL="336145" indent="0">
              <a:buNone/>
              <a:defRPr/>
            </a:lvl2pPr>
            <a:lvl3pPr marL="560241" indent="0">
              <a:buNone/>
              <a:defRPr/>
            </a:lvl3pPr>
            <a:lvl4pPr marL="784338" indent="0">
              <a:buNone/>
              <a:defRPr/>
            </a:lvl4pPr>
            <a:lvl5pPr marL="1008435" indent="0">
              <a:buNone/>
              <a:defRPr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346031343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67999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rgbClr val="5828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735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 Accent Colo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874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Accent Color 2">
    <p:bg>
      <p:bgPr>
        <a:solidFill>
          <a:srgbClr val="169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281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Accent Color 3">
    <p:bg>
      <p:bgPr>
        <a:solidFill>
          <a:srgbClr val="F38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833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hidden">
          <a:xfrm>
            <a:off x="0" y="1189177"/>
            <a:ext cx="12192000" cy="5668823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45722" tIns="45722" rIns="45722" bIns="45722" anchor="ctr"/>
          <a:lstStyle/>
          <a:p>
            <a:pPr algn="ctr" defTabSz="91410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765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193899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269239" y="1189177"/>
            <a:ext cx="11653523" cy="2396047"/>
          </a:xfrm>
          <a:prstGeom prst="rect">
            <a:avLst/>
          </a:prstGeom>
        </p:spPr>
        <p:txBody>
          <a:bodyPr/>
          <a:lstStyle>
            <a:lvl1pPr marL="284790" indent="-284790">
              <a:buClr>
                <a:schemeClr val="tx1"/>
              </a:buClr>
              <a:buSzPct val="90000"/>
              <a:buFont typeface="Arial" pitchFamily="34" charset="0"/>
              <a:buChar char="•"/>
              <a:defRPr sz="3529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60241" indent="-275453">
              <a:buClr>
                <a:schemeClr val="tx1"/>
              </a:buClr>
              <a:buSzPct val="90000"/>
              <a:buFont typeface="Arial" pitchFamily="34" charset="0"/>
              <a:buChar char="•"/>
              <a:defRPr sz="3137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45031" indent="-284790">
              <a:buClr>
                <a:schemeClr val="tx1"/>
              </a:buClr>
              <a:buSzPct val="90000"/>
              <a:buFont typeface="Arial" pitchFamily="34" charset="0"/>
              <a:buChar char="•"/>
              <a:defRPr sz="2745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69128" indent="-224097">
              <a:buClr>
                <a:schemeClr val="tx1"/>
              </a:buClr>
              <a:buSzPct val="90000"/>
              <a:buFont typeface="Arial" pitchFamily="34" charset="0"/>
              <a:buChar char="•"/>
              <a:defRPr sz="2353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293225" indent="-224097">
              <a:buClr>
                <a:schemeClr val="tx1"/>
              </a:buClr>
              <a:buSzPct val="90000"/>
              <a:buFont typeface="Arial" pitchFamily="34" charset="0"/>
              <a:buChar char="•"/>
              <a:defRPr sz="196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1" y="6238876"/>
            <a:ext cx="12192001" cy="619125"/>
          </a:xfrm>
          <a:prstGeom prst="rect">
            <a:avLst/>
          </a:prstGeom>
          <a:solidFill>
            <a:srgbClr val="FFFF99"/>
          </a:solidFill>
        </p:spPr>
        <p:txBody>
          <a:bodyPr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627"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1068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6116160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536534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C166-16D3-4A25-A2F8-C51E0E346B22}" type="datetimeFigureOut">
              <a:rPr lang="en-US" smtClean="0"/>
              <a:t>4/29/24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4316-4355-4038-9262-DF05D0694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956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(3)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477717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1750CB-9CBA-45C3-BA45-EB468097CB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" b="274"/>
          <a:stretch/>
        </p:blipFill>
        <p:spPr>
          <a:xfrm>
            <a:off x="0" y="860"/>
            <a:ext cx="12188944" cy="6856281"/>
          </a:xfrm>
          <a:prstGeom prst="rect">
            <a:avLst/>
          </a:prstGeom>
        </p:spPr>
      </p:pic>
      <p:pic>
        <p:nvPicPr>
          <p:cNvPr id="8" name="MS logo gray - EMF" descr="Microsoft logo, gray text version">
            <a:extLst>
              <a:ext uri="{FF2B5EF4-FFF2-40B4-BE49-F238E27FC236}">
                <a16:creationId xmlns:a16="http://schemas.microsoft.com/office/drawing/2014/main" id="{CE330B21-D2B9-4344-9D50-39EA069991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84200" y="2979778"/>
            <a:ext cx="7589520" cy="553998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584200" y="3962400"/>
            <a:ext cx="758952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787012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025650"/>
            <a:ext cx="4161981" cy="1107996"/>
          </a:xfrm>
        </p:spPr>
        <p:txBody>
          <a:bodyPr wrap="square" rIns="0" anchor="b">
            <a:spAutoFit/>
          </a:bodyPr>
          <a:lstStyle>
            <a:lvl1pPr>
              <a:lnSpc>
                <a:spcPct val="100000"/>
              </a:lnSpc>
              <a:defRPr sz="3600" b="0" spc="-49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Title format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1"/>
            <a:ext cx="4162425" cy="307777"/>
          </a:xfrm>
        </p:spPr>
        <p:txBody>
          <a:bodyPr/>
          <a:lstStyle>
            <a:lvl1pPr marL="0" indent="0">
              <a:buNone/>
              <a:defRPr sz="20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6178F5D2-7CA2-4202-8FD2-95D8F7A2E98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201168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5454163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2634801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lumn tex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6424" y="1120574"/>
            <a:ext cx="11339774" cy="814777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82"/>
              </a:spcAft>
              <a:buNone/>
              <a:defRPr sz="1765" b="0" i="0">
                <a:solidFill>
                  <a:srgbClr val="000000"/>
                </a:solidFill>
                <a:latin typeface="+mn-lt"/>
              </a:defRPr>
            </a:lvl1pPr>
            <a:lvl2pPr marL="224097" indent="0">
              <a:lnSpc>
                <a:spcPct val="100000"/>
              </a:lnSpc>
              <a:spcBef>
                <a:spcPts val="0"/>
              </a:spcBef>
              <a:spcAft>
                <a:spcPts val="1372"/>
              </a:spcAft>
              <a:buNone/>
              <a:defRPr sz="1765">
                <a:solidFill>
                  <a:srgbClr val="000000"/>
                </a:solidFill>
              </a:defRPr>
            </a:lvl2pPr>
            <a:lvl3pPr marL="448193" indent="0">
              <a:lnSpc>
                <a:spcPct val="100000"/>
              </a:lnSpc>
              <a:spcBef>
                <a:spcPts val="0"/>
              </a:spcBef>
              <a:spcAft>
                <a:spcPts val="1372"/>
              </a:spcAft>
              <a:buNone/>
              <a:defRPr sz="1372">
                <a:solidFill>
                  <a:srgbClr val="000000"/>
                </a:solidFill>
              </a:defRPr>
            </a:lvl3pPr>
            <a:lvl4pPr marL="672290" indent="0">
              <a:spcBef>
                <a:spcPts val="0"/>
              </a:spcBef>
              <a:spcAft>
                <a:spcPts val="1274"/>
              </a:spcAft>
              <a:buNone/>
              <a:defRPr sz="1961"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Body copy Segoe Regular 18.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.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222583"/>
            <a:ext cx="11336039" cy="739343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Three column text layout (with bullets)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849D465-70FF-451A-8BED-41C7ADC630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6424" y="2310842"/>
            <a:ext cx="3630521" cy="260249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86"/>
              </a:spcAft>
              <a:buNone/>
              <a:defRPr sz="1372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86"/>
              </a:spcAft>
              <a:buClrTx/>
              <a:buSzPct val="90000"/>
              <a:buFont typeface="Arial" panose="020B0604020202020204" pitchFamily="34" charset="0"/>
              <a:buNone/>
              <a:tabLst/>
              <a:defRPr sz="1372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/>
              <a:t>Body copy Segoe Regular 14</a:t>
            </a:r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</a:t>
            </a:r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/>
              <a:t>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FCB46-ABD2-4E30-8117-D04A484725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1361" y="2310842"/>
            <a:ext cx="3623050" cy="260249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86"/>
              </a:spcAft>
              <a:buNone/>
              <a:defRPr sz="1372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86"/>
              </a:spcAft>
              <a:buClrTx/>
              <a:buSzPct val="90000"/>
              <a:buFont typeface="Arial" panose="020B0604020202020204" pitchFamily="34" charset="0"/>
              <a:buNone/>
              <a:tabLst/>
              <a:defRPr sz="1372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/>
              <a:t>Body copy Segoe Regular 14</a:t>
            </a:r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</a:t>
            </a:r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/>
              <a:t>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6529D97-59E4-4F82-95B3-25E40D5A2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6963" y="2310841"/>
            <a:ext cx="3630521" cy="2611809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86"/>
              </a:spcAft>
              <a:buNone/>
              <a:defRPr sz="1372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86"/>
              </a:spcAft>
              <a:buClrTx/>
              <a:buSzPct val="90000"/>
              <a:buFont typeface="Arial" panose="020B0604020202020204" pitchFamily="34" charset="0"/>
              <a:buNone/>
              <a:tabLst/>
              <a:defRPr sz="1372">
                <a:solidFill>
                  <a:srgbClr val="000000"/>
                </a:solidFill>
              </a:defRPr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/>
              <a:t>Body copy Segoe Regular 14</a:t>
            </a:r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</a:t>
            </a:r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endParaRPr lang="en-US"/>
          </a:p>
          <a:p>
            <a:pPr marL="280121" lvl="1" indent="-280121">
              <a:buFont typeface="Arial" panose="020B0604020202020204" pitchFamily="34" charset="0"/>
              <a:buChar char="•"/>
            </a:pPr>
            <a:r>
              <a:rPr lang="en-US"/>
              <a:t>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975383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DBC305C-A9C3-4278-AFC0-C99DFD80A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440495"/>
            <a:ext cx="11336039" cy="758022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16343979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209610" y="0"/>
            <a:ext cx="598239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96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7B2D435-6763-4273-8B58-EEB8756175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5" y="222583"/>
            <a:ext cx="5555966" cy="758022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Photo layout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1CE2F71-BF91-4E7B-BDE5-A747EFEFF8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6424" y="1129913"/>
            <a:ext cx="5555965" cy="2573509"/>
          </a:xfrm>
        </p:spPr>
        <p:txBody>
          <a:bodyPr wrap="square" lIns="0" tIns="0" rIns="0" bIns="0">
            <a:no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549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745" b="0" i="0">
                <a:solidFill>
                  <a:srgbClr val="000000"/>
                </a:solidFill>
                <a:latin typeface="+mn-lt"/>
              </a:defRPr>
            </a:lvl1pPr>
            <a:lvl2pPr marL="224097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pt-BR"/>
              <a:t>Subhead Segoe UI 28pt</a:t>
            </a:r>
          </a:p>
          <a:p>
            <a:pPr lvl="0"/>
            <a:r>
              <a:rPr lang="pt-BR"/>
              <a:t>Subhead Segoe UI 28pt</a:t>
            </a:r>
          </a:p>
          <a:p>
            <a:pPr lvl="0"/>
            <a:r>
              <a:rPr lang="pt-BR"/>
              <a:t>Subhead Segoe UI 28pt</a:t>
            </a:r>
          </a:p>
        </p:txBody>
      </p:sp>
    </p:spTree>
    <p:extLst>
      <p:ext uri="{BB962C8B-B14F-4D97-AF65-F5344CB8AC3E}">
        <p14:creationId xmlns:p14="http://schemas.microsoft.com/office/powerpoint/2010/main" val="8333039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 MSFT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BC1E75-E2E7-40DF-9B34-E7ECA97A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804" y="2540313"/>
            <a:ext cx="9401560" cy="1793104"/>
          </a:xfrm>
          <a:noFill/>
        </p:spPr>
        <p:txBody>
          <a:bodyPr lIns="0" tIns="0" rIns="0" bIns="182880" anchor="b" anchorCtr="0"/>
          <a:lstStyle>
            <a:lvl1pPr>
              <a:defRPr sz="5294" strike="noStrike" spc="-147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Azure DevOps presentation</a:t>
            </a:r>
            <a:br>
              <a:rPr lang="en-US" dirty="0"/>
            </a:br>
            <a:r>
              <a:rPr lang="en-US" dirty="0"/>
              <a:t>title or event 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1BFA596-B43C-4DAC-A798-0D495345CD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804" y="4342824"/>
            <a:ext cx="9401560" cy="94543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6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30372D-8606-427F-81BF-A215D788EA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75" y="252099"/>
            <a:ext cx="1970160" cy="72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839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ody with bulle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7318" y="1120573"/>
            <a:ext cx="11339774" cy="1106487"/>
          </a:xfrm>
        </p:spPr>
        <p:txBody>
          <a:bodyPr wrap="square" lIns="0" tIns="0" rIns="0" bIns="0">
            <a:spAutoFit/>
          </a:bodyPr>
          <a:lstStyle>
            <a:lvl1pPr marL="280121" indent="-280121">
              <a:lnSpc>
                <a:spcPct val="100000"/>
              </a:lnSpc>
              <a:spcBef>
                <a:spcPts val="0"/>
              </a:spcBef>
              <a:spcAft>
                <a:spcPts val="1372"/>
              </a:spcAft>
              <a:buFont typeface="Arial" panose="020B0604020202020204" pitchFamily="34" charset="0"/>
              <a:buChar char="•"/>
              <a:defRPr sz="1765" b="0" i="0">
                <a:solidFill>
                  <a:srgbClr val="000000"/>
                </a:solidFill>
                <a:latin typeface="+mj-lt"/>
              </a:defRPr>
            </a:lvl1pPr>
            <a:lvl2pPr marL="504217" indent="-280121">
              <a:lnSpc>
                <a:spcPct val="100000"/>
              </a:lnSpc>
              <a:spcBef>
                <a:spcPts val="0"/>
              </a:spcBef>
              <a:spcAft>
                <a:spcPts val="1372"/>
              </a:spcAft>
              <a:buFont typeface="Arial" panose="020B0604020202020204" pitchFamily="34" charset="0"/>
              <a:buChar char="•"/>
              <a:defRPr sz="1765">
                <a:solidFill>
                  <a:srgbClr val="000000"/>
                </a:solidFill>
              </a:defRPr>
            </a:lvl2pPr>
            <a:lvl3pPr marL="728314" indent="-280121">
              <a:lnSpc>
                <a:spcPct val="100000"/>
              </a:lnSpc>
              <a:spcBef>
                <a:spcPts val="0"/>
              </a:spcBef>
              <a:spcAft>
                <a:spcPts val="1372"/>
              </a:spcAft>
              <a:buFont typeface="Arial" panose="020B0604020202020204" pitchFamily="34" charset="0"/>
              <a:buChar char="•"/>
              <a:defRPr sz="1372">
                <a:solidFill>
                  <a:srgbClr val="000000"/>
                </a:solidFill>
              </a:defRPr>
            </a:lvl3pPr>
            <a:lvl4pPr marL="672290" indent="0">
              <a:spcBef>
                <a:spcPts val="0"/>
              </a:spcBef>
              <a:spcAft>
                <a:spcPts val="1274"/>
              </a:spcAft>
              <a:buNone/>
              <a:defRPr sz="1961"/>
            </a:lvl4pPr>
            <a:lvl5pPr marL="896386" indent="0">
              <a:buNone/>
              <a:defRPr/>
            </a:lvl5pPr>
          </a:lstStyle>
          <a:p>
            <a:pPr lvl="0"/>
            <a:r>
              <a:rPr lang="en-US"/>
              <a:t>First level Segoe UI </a:t>
            </a:r>
            <a:r>
              <a:rPr lang="en-US" err="1"/>
              <a:t>Semibold</a:t>
            </a:r>
            <a:r>
              <a:rPr lang="en-US"/>
              <a:t> 18pt</a:t>
            </a:r>
          </a:p>
          <a:p>
            <a:pPr lvl="1"/>
            <a:r>
              <a:rPr lang="en-US"/>
              <a:t>Second level Segoe UI 18pt</a:t>
            </a:r>
          </a:p>
          <a:p>
            <a:pPr lvl="2"/>
            <a:r>
              <a:rPr lang="en-US"/>
              <a:t>Third level Segoe UI 14pt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222583"/>
            <a:ext cx="11336039" cy="739343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Heading Segoe UI </a:t>
            </a:r>
            <a:r>
              <a:rPr lang="en-US" err="1"/>
              <a:t>Semibold</a:t>
            </a:r>
            <a:r>
              <a:rPr lang="en-US"/>
              <a:t> 36pt (with bullets)</a:t>
            </a:r>
          </a:p>
        </p:txBody>
      </p:sp>
    </p:spTree>
    <p:extLst>
      <p:ext uri="{BB962C8B-B14F-4D97-AF65-F5344CB8AC3E}">
        <p14:creationId xmlns:p14="http://schemas.microsoft.com/office/powerpoint/2010/main" val="367013857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2"/>
            <a:ext cx="11655078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39" y="1189177"/>
            <a:ext cx="11653523" cy="2051485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181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  <p:sldLayoutId id="2147483758" r:id="rId32"/>
    <p:sldLayoutId id="2147483761" r:id="rId33"/>
    <p:sldLayoutId id="2147483762" r:id="rId34"/>
    <p:sldLayoutId id="2147483768" r:id="rId35"/>
    <p:sldLayoutId id="2147483770" r:id="rId36"/>
    <p:sldLayoutId id="2147483771" r:id="rId37"/>
    <p:sldLayoutId id="2147483772" r:id="rId38"/>
    <p:sldLayoutId id="2147483773" r:id="rId39"/>
    <p:sldLayoutId id="2147483774" r:id="rId40"/>
    <p:sldLayoutId id="2147483775" r:id="rId41"/>
    <p:sldLayoutId id="2147483776" r:id="rId42"/>
    <p:sldLayoutId id="2147483777" r:id="rId43"/>
    <p:sldLayoutId id="2147483778" r:id="rId44"/>
  </p:sldLayoutIdLst>
  <p:transition>
    <p:fade/>
  </p:transition>
  <p:txStyles>
    <p:titleStyle>
      <a:lvl1pPr algn="l" defTabSz="913505" rtl="0" fontAlgn="base">
        <a:lnSpc>
          <a:spcPct val="90000"/>
        </a:lnSpc>
        <a:spcBef>
          <a:spcPct val="0"/>
        </a:spcBef>
        <a:spcAft>
          <a:spcPct val="0"/>
        </a:spcAft>
        <a:defRPr lang="en-US" sz="5294" kern="1200" spc="-100" dirty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MS PGothic" pitchFamily="34" charset="-128"/>
          <a:cs typeface="Segoe UI" pitchFamily="34" charset="0"/>
        </a:defRPr>
      </a:lvl1pPr>
      <a:lvl2pPr algn="l" defTabSz="913505" rtl="0" fontAlgn="base">
        <a:lnSpc>
          <a:spcPct val="90000"/>
        </a:lnSpc>
        <a:spcBef>
          <a:spcPct val="0"/>
        </a:spcBef>
        <a:spcAft>
          <a:spcPct val="0"/>
        </a:spcAft>
        <a:defRPr sz="5294">
          <a:solidFill>
            <a:schemeClr val="tx1"/>
          </a:solidFill>
          <a:latin typeface="Segoe UI Light" pitchFamily="34" charset="0"/>
          <a:ea typeface="MS PGothic" pitchFamily="34" charset="-128"/>
        </a:defRPr>
      </a:lvl2pPr>
      <a:lvl3pPr algn="l" defTabSz="913505" rtl="0" fontAlgn="base">
        <a:lnSpc>
          <a:spcPct val="90000"/>
        </a:lnSpc>
        <a:spcBef>
          <a:spcPct val="0"/>
        </a:spcBef>
        <a:spcAft>
          <a:spcPct val="0"/>
        </a:spcAft>
        <a:defRPr sz="5294">
          <a:solidFill>
            <a:schemeClr val="tx1"/>
          </a:solidFill>
          <a:latin typeface="Segoe UI Light" pitchFamily="34" charset="0"/>
          <a:ea typeface="MS PGothic" pitchFamily="34" charset="-128"/>
        </a:defRPr>
      </a:lvl3pPr>
      <a:lvl4pPr algn="l" defTabSz="913505" rtl="0" fontAlgn="base">
        <a:lnSpc>
          <a:spcPct val="90000"/>
        </a:lnSpc>
        <a:spcBef>
          <a:spcPct val="0"/>
        </a:spcBef>
        <a:spcAft>
          <a:spcPct val="0"/>
        </a:spcAft>
        <a:defRPr sz="5294">
          <a:solidFill>
            <a:schemeClr val="tx1"/>
          </a:solidFill>
          <a:latin typeface="Segoe UI Light" pitchFamily="34" charset="0"/>
          <a:ea typeface="MS PGothic" pitchFamily="34" charset="-128"/>
        </a:defRPr>
      </a:lvl4pPr>
      <a:lvl5pPr algn="l" defTabSz="913505" rtl="0" fontAlgn="base">
        <a:lnSpc>
          <a:spcPct val="90000"/>
        </a:lnSpc>
        <a:spcBef>
          <a:spcPct val="0"/>
        </a:spcBef>
        <a:spcAft>
          <a:spcPct val="0"/>
        </a:spcAft>
        <a:defRPr sz="5294">
          <a:solidFill>
            <a:schemeClr val="tx1"/>
          </a:solidFill>
          <a:latin typeface="Segoe UI Light" pitchFamily="34" charset="0"/>
          <a:ea typeface="MS PGothic" pitchFamily="34" charset="-128"/>
        </a:defRPr>
      </a:lvl5pPr>
      <a:lvl6pPr marL="448193" algn="l" defTabSz="913505" rtl="0" fontAlgn="base">
        <a:lnSpc>
          <a:spcPct val="90000"/>
        </a:lnSpc>
        <a:spcBef>
          <a:spcPct val="0"/>
        </a:spcBef>
        <a:spcAft>
          <a:spcPct val="0"/>
        </a:spcAft>
        <a:defRPr sz="5294">
          <a:solidFill>
            <a:schemeClr val="tx1"/>
          </a:solidFill>
          <a:latin typeface="Segoe UI Light" pitchFamily="34" charset="0"/>
          <a:ea typeface="MS PGothic" pitchFamily="34" charset="-128"/>
        </a:defRPr>
      </a:lvl6pPr>
      <a:lvl7pPr marL="896386" algn="l" defTabSz="913505" rtl="0" fontAlgn="base">
        <a:lnSpc>
          <a:spcPct val="90000"/>
        </a:lnSpc>
        <a:spcBef>
          <a:spcPct val="0"/>
        </a:spcBef>
        <a:spcAft>
          <a:spcPct val="0"/>
        </a:spcAft>
        <a:defRPr sz="5294">
          <a:solidFill>
            <a:schemeClr val="tx1"/>
          </a:solidFill>
          <a:latin typeface="Segoe UI Light" pitchFamily="34" charset="0"/>
          <a:ea typeface="MS PGothic" pitchFamily="34" charset="-128"/>
        </a:defRPr>
      </a:lvl7pPr>
      <a:lvl8pPr marL="1344579" algn="l" defTabSz="913505" rtl="0" fontAlgn="base">
        <a:lnSpc>
          <a:spcPct val="90000"/>
        </a:lnSpc>
        <a:spcBef>
          <a:spcPct val="0"/>
        </a:spcBef>
        <a:spcAft>
          <a:spcPct val="0"/>
        </a:spcAft>
        <a:defRPr sz="5294">
          <a:solidFill>
            <a:schemeClr val="tx1"/>
          </a:solidFill>
          <a:latin typeface="Segoe UI Light" pitchFamily="34" charset="0"/>
          <a:ea typeface="MS PGothic" pitchFamily="34" charset="-128"/>
        </a:defRPr>
      </a:lvl8pPr>
      <a:lvl9pPr marL="1792773" algn="l" defTabSz="913505" rtl="0" fontAlgn="base">
        <a:lnSpc>
          <a:spcPct val="90000"/>
        </a:lnSpc>
        <a:spcBef>
          <a:spcPct val="0"/>
        </a:spcBef>
        <a:spcAft>
          <a:spcPct val="0"/>
        </a:spcAft>
        <a:defRPr sz="5294">
          <a:solidFill>
            <a:schemeClr val="tx1"/>
          </a:solidFill>
          <a:latin typeface="Segoe UI Light" pitchFamily="34" charset="0"/>
          <a:ea typeface="MS PGothic" pitchFamily="34" charset="-128"/>
        </a:defRPr>
      </a:lvl9pPr>
    </p:titleStyle>
    <p:bodyStyle>
      <a:lvl1pPr marL="336145" indent="-336145" algn="l" defTabSz="913505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Font typeface="Arial" pitchFamily="34" charset="0"/>
        <a:buChar char="•"/>
        <a:defRPr sz="3921" kern="120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MS PGothic" pitchFamily="34" charset="-128"/>
          <a:cs typeface="+mn-cs"/>
        </a:defRPr>
      </a:lvl1pPr>
      <a:lvl2pPr marL="572691" indent="-236546" algn="l" defTabSz="913505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Font typeface="Arial" pitchFamily="34" charset="0"/>
        <a:buChar char="•"/>
        <a:defRPr sz="2353" kern="120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MS PGothic" pitchFamily="34" charset="-128"/>
          <a:cs typeface="+mn-cs"/>
        </a:defRPr>
      </a:lvl2pPr>
      <a:lvl3pPr marL="784338" indent="-224097" algn="l" defTabSz="913505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Font typeface="Arial" pitchFamily="34" charset="0"/>
        <a:buChar char="•"/>
        <a:defRPr sz="1961" kern="120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MS PGothic" pitchFamily="34" charset="-128"/>
          <a:cs typeface="+mn-cs"/>
        </a:defRPr>
      </a:lvl3pPr>
      <a:lvl4pPr marL="1008435" indent="-224097" algn="l" defTabSz="913505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Font typeface="Arial" pitchFamily="34" charset="0"/>
        <a:buChar char="•"/>
        <a:defRPr kern="120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MS PGothic" pitchFamily="34" charset="-128"/>
          <a:cs typeface="+mn-cs"/>
        </a:defRPr>
      </a:lvl4pPr>
      <a:lvl5pPr marL="1232531" indent="-224097" algn="l" defTabSz="913505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Font typeface="Arial" pitchFamily="34" charset="0"/>
        <a:buChar char="•"/>
        <a:defRPr kern="120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MS PGothic" pitchFamily="34" charset="-128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z-load-balanc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z-auto-scal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z-sql-h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z-load-test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bit.ly/az-insights-avail-testing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rchitecture/guide/technology-choices/load-balancing-overview#decision-tree-for-load-balancing-in-azure" TargetMode="External"/><Relationship Id="rId7" Type="http://schemas.openxmlformats.org/officeDocument/2006/relationships/hyperlink" Target="https://bit.ly/hm-az-reactor-pulumi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6" Type="http://schemas.openxmlformats.org/officeDocument/2006/relationships/hyperlink" Target="https://bit.ly/pls-az-wtu" TargetMode="External"/><Relationship Id="rId5" Type="http://schemas.openxmlformats.org/officeDocument/2006/relationships/hyperlink" Target="https://learn.microsoft.com/en-us/azure/architecture/patterns/%22" TargetMode="External"/><Relationship Id="rId4" Type="http://schemas.openxmlformats.org/officeDocument/2006/relationships/hyperlink" Target="https://learn.microsoft.com/en-us/azure/architecture/best-practices/index-best-practices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80F6BD-62DB-4795-B34C-D4AA95842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844" y="2665696"/>
            <a:ext cx="5384156" cy="419181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3E87B90-7779-47CE-B120-6FF197D9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04" y="2004992"/>
            <a:ext cx="7284409" cy="1178551"/>
          </a:xfrm>
        </p:spPr>
        <p:txBody>
          <a:bodyPr/>
          <a:lstStyle/>
          <a:p>
            <a:r>
              <a:rPr lang="en-US" sz="5250" dirty="0">
                <a:ea typeface="MS PGothic"/>
                <a:cs typeface="Segoe UI"/>
              </a:rPr>
              <a:t>Reliable services with</a:t>
            </a:r>
            <a:br>
              <a:rPr lang="en-US" sz="5250" dirty="0">
                <a:ea typeface="MS PGothic"/>
                <a:cs typeface="Segoe UI"/>
              </a:rPr>
            </a:br>
            <a:r>
              <a:rPr lang="en-US" sz="2800" dirty="0">
                <a:ea typeface="MS PGothic"/>
                <a:cs typeface="Segoe UI"/>
              </a:rPr>
              <a:t>Microsoft Azure</a:t>
            </a:r>
            <a:endParaRPr lang="en-US" sz="28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069BD4-79AF-4731-BB22-1B77F1ECF0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804" y="4342824"/>
            <a:ext cx="2790534" cy="143161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50" b="1" dirty="0">
                <a:latin typeface="Segoe UI Light"/>
                <a:ea typeface="MS PGothic"/>
                <a:cs typeface="Segoe UI Light"/>
              </a:rPr>
              <a:t>Hardik Mistry</a:t>
            </a:r>
          </a:p>
          <a:p>
            <a:endParaRPr lang="en-US" sz="1750" dirty="0">
              <a:latin typeface="Segoe UI Light"/>
              <a:cs typeface="Segoe UI Light"/>
            </a:endParaRPr>
          </a:p>
          <a:p>
            <a:r>
              <a:rPr lang="en-US" sz="1750" dirty="0">
                <a:latin typeface="Segoe UI Light"/>
                <a:ea typeface="MS PGothic"/>
                <a:cs typeface="Segoe UI Light"/>
              </a:rPr>
              <a:t>hardik@appmattic.com</a:t>
            </a:r>
          </a:p>
          <a:p>
            <a:r>
              <a:rPr lang="en-US" sz="1750" dirty="0">
                <a:latin typeface="Segoe UI Light"/>
                <a:ea typeface="MS PGothic"/>
                <a:cs typeface="Segoe UI Light"/>
              </a:rPr>
              <a:t>@mistryhardik05</a:t>
            </a:r>
          </a:p>
          <a:p>
            <a:endParaRPr lang="en-US" sz="1750" dirty="0">
              <a:latin typeface="Segoe UI Light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43248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1E42-2E30-4862-8919-84E80A7D5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challenges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26DA34B-FB91-214A-9E86-0B22349BFB25}"/>
              </a:ext>
            </a:extLst>
          </p:cNvPr>
          <p:cNvGrpSpPr/>
          <p:nvPr/>
        </p:nvGrpSpPr>
        <p:grpSpPr>
          <a:xfrm>
            <a:off x="4543014" y="2643053"/>
            <a:ext cx="3000951" cy="3365036"/>
            <a:chOff x="4543014" y="2643053"/>
            <a:chExt cx="3000951" cy="3365036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CB97DDB-B8C7-4920-9175-E429C7EC5A6D}"/>
                </a:ext>
              </a:extLst>
            </p:cNvPr>
            <p:cNvSpPr txBox="1"/>
            <p:nvPr/>
          </p:nvSpPr>
          <p:spPr>
            <a:xfrm>
              <a:off x="4543014" y="4331016"/>
              <a:ext cx="3000951" cy="1677073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5715" tIns="140572" rIns="175715" bIns="14057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lvl="0" algn="ctr" defTabSz="914180">
                <a:lnSpc>
                  <a:spcPct val="90000"/>
                </a:lnSpc>
                <a:defRPr sz="2352">
                  <a:solidFill>
                    <a:srgbClr val="0078D7"/>
                  </a:solidFill>
                  <a:latin typeface="Segoe Pro SemiLight" panose="020B0402040204020203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896171">
                <a:defRPr/>
              </a:pPr>
              <a:r>
                <a:rPr lang="en-US" sz="2000" dirty="0">
                  <a:ln w="139700">
                    <a:noFill/>
                  </a:ln>
                  <a:solidFill>
                    <a:schemeClr val="accent4"/>
                  </a:solidFill>
                  <a:latin typeface="Segoe UI Semilight"/>
                </a:rPr>
                <a:t>Poor customer retention</a:t>
              </a:r>
              <a:endParaRPr lang="en-US" dirty="0">
                <a:solidFill>
                  <a:schemeClr val="accent4"/>
                </a:solidFill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8C6354-7D90-DB45-A33E-FF04B982C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8529" y="2643053"/>
              <a:ext cx="900000" cy="9000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904904-2FEC-644B-91A5-8E7F476458FB}"/>
              </a:ext>
            </a:extLst>
          </p:cNvPr>
          <p:cNvGrpSpPr/>
          <p:nvPr/>
        </p:nvGrpSpPr>
        <p:grpSpPr>
          <a:xfrm>
            <a:off x="1121915" y="2702654"/>
            <a:ext cx="3000951" cy="3305435"/>
            <a:chOff x="1121915" y="2702654"/>
            <a:chExt cx="3000951" cy="3305435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0CE77D3-E579-434C-AA80-DD9F34F638BB}"/>
                </a:ext>
              </a:extLst>
            </p:cNvPr>
            <p:cNvSpPr/>
            <p:nvPr/>
          </p:nvSpPr>
          <p:spPr bwMode="auto">
            <a:xfrm>
              <a:off x="1121915" y="4331016"/>
              <a:ext cx="3000951" cy="1677073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5715" tIns="140572" rIns="175715" bIns="14057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6171">
                <a:lnSpc>
                  <a:spcPct val="90000"/>
                </a:lnSpc>
                <a:defRPr/>
              </a:pPr>
              <a:r>
                <a:rPr lang="en-US" sz="2000" dirty="0">
                  <a:ln w="139700">
                    <a:noFill/>
                  </a:ln>
                  <a:solidFill>
                    <a:schemeClr val="accent4"/>
                  </a:solidFill>
                  <a:latin typeface="Segoe UI Semilight"/>
                  <a:cs typeface="Segoe UI Semilight"/>
                </a:rPr>
                <a:t>Unavailability of the service</a:t>
              </a:r>
              <a:endParaRPr lang="en-US" dirty="0">
                <a:solidFill>
                  <a:schemeClr val="accent4"/>
                </a:solidFill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1ED781B-A202-164E-A1C1-D13B67B44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72390" y="2702654"/>
              <a:ext cx="900000" cy="900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5ECF84F-A539-C444-89EB-8305D0135343}"/>
              </a:ext>
            </a:extLst>
          </p:cNvPr>
          <p:cNvGrpSpPr/>
          <p:nvPr/>
        </p:nvGrpSpPr>
        <p:grpSpPr>
          <a:xfrm>
            <a:off x="7806265" y="2702654"/>
            <a:ext cx="3137487" cy="3305435"/>
            <a:chOff x="7806265" y="2702654"/>
            <a:chExt cx="3137487" cy="330543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613B813-6076-4D13-A6B2-CFDDD1761A43}"/>
                </a:ext>
              </a:extLst>
            </p:cNvPr>
            <p:cNvSpPr/>
            <p:nvPr/>
          </p:nvSpPr>
          <p:spPr bwMode="auto">
            <a:xfrm>
              <a:off x="7806265" y="4331016"/>
              <a:ext cx="3137487" cy="1677073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5715" tIns="140572" rIns="175715" bIns="14057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896171">
                <a:defRPr/>
              </a:pPr>
              <a:r>
                <a:rPr lang="en-US" sz="2000">
                  <a:ln w="139700">
                    <a:noFill/>
                  </a:ln>
                  <a:solidFill>
                    <a:schemeClr val="accent4"/>
                  </a:solidFill>
                  <a:ea typeface="+mn-lt"/>
                  <a:cs typeface="+mn-lt"/>
                </a:rPr>
                <a:t>Impact of business/operations</a:t>
              </a:r>
            </a:p>
            <a:p>
              <a:pPr marL="0" marR="0" lvl="0" indent="0" algn="ctr" defTabSz="89617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2000" b="0" i="0" u="none" strike="noStrike" kern="1200" cap="none" spc="0" normalizeH="0" baseline="0" noProof="0" dirty="0">
                <a:ln w="139700"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Segoe UI Semilight"/>
                <a:cs typeface="Segoe UI Semilight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D66619D-B609-7846-B21F-D906A30EE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19125" y="2702654"/>
              <a:ext cx="900000" cy="900000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A22A496-60F4-9F4B-8867-59C51AB10F6A}"/>
              </a:ext>
            </a:extLst>
          </p:cNvPr>
          <p:cNvSpPr txBox="1"/>
          <p:nvPr/>
        </p:nvSpPr>
        <p:spPr>
          <a:xfrm>
            <a:off x="8875266" y="6290026"/>
            <a:ext cx="273151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00" dirty="0">
                <a:solidFill>
                  <a:schemeClr val="accent6">
                    <a:lumMod val="75000"/>
                  </a:schemeClr>
                </a:solidFill>
              </a:rPr>
              <a:t>Icon credits: https://</a:t>
            </a:r>
            <a:r>
              <a:rPr lang="en-US" sz="900" dirty="0" err="1">
                <a:solidFill>
                  <a:schemeClr val="accent6">
                    <a:lumMod val="75000"/>
                  </a:schemeClr>
                </a:solidFill>
              </a:rPr>
              <a:t>www.flaticon.com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</a:rPr>
              <a:t>/authors/</a:t>
            </a:r>
            <a:r>
              <a:rPr lang="en-US" sz="900" dirty="0" err="1">
                <a:solidFill>
                  <a:schemeClr val="accent6">
                    <a:lumMod val="75000"/>
                  </a:schemeClr>
                </a:solidFill>
              </a:rPr>
              <a:t>nhor-phai</a:t>
            </a:r>
            <a:endParaRPr lang="en-US" sz="9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50" dirty="0">
                <a:ea typeface="MS PGothic"/>
                <a:cs typeface="Segoe UI"/>
              </a:rPr>
              <a:t>What is HA/DR?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88263" y="1189038"/>
            <a:ext cx="11603737" cy="923330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ea typeface="MS PGothic"/>
                <a:cs typeface="Segoe UI Light"/>
              </a:rPr>
              <a:t>An architecture implemented to overcome infrastructure issues</a:t>
            </a:r>
          </a:p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ea typeface="MS PGothic"/>
                <a:cs typeface="Segoe UI Light"/>
              </a:rPr>
              <a:t>A policy to implement and follow in case of infrastructure issues</a:t>
            </a:r>
          </a:p>
        </p:txBody>
      </p:sp>
    </p:spTree>
    <p:extLst>
      <p:ext uri="{BB962C8B-B14F-4D97-AF65-F5344CB8AC3E}">
        <p14:creationId xmlns:p14="http://schemas.microsoft.com/office/powerpoint/2010/main" val="399217150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50" dirty="0">
                <a:ea typeface="MS PGothic"/>
                <a:cs typeface="Segoe UI"/>
              </a:rPr>
              <a:t>Why is HA/DR important?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88263" y="1189038"/>
            <a:ext cx="11603737" cy="1329595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ea typeface="MS PGothic"/>
                <a:cs typeface="Segoe UI Light"/>
              </a:rPr>
              <a:t>Always available platform/service</a:t>
            </a:r>
            <a:endParaRPr lang="en-US" sz="2400">
              <a:solidFill>
                <a:schemeClr val="tx1">
                  <a:lumMod val="75000"/>
                </a:schemeClr>
              </a:solidFill>
              <a:cs typeface="Segoe UI Light"/>
            </a:endParaRPr>
          </a:p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ea typeface="MS PGothic"/>
              </a:rPr>
              <a:t>Improved customer satisfaction</a:t>
            </a:r>
            <a:endParaRPr lang="en-US" sz="2400">
              <a:solidFill>
                <a:schemeClr val="tx1">
                  <a:lumMod val="75000"/>
                </a:schemeClr>
              </a:solidFill>
              <a:cs typeface="Segoe UI Light"/>
            </a:endParaRPr>
          </a:p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ea typeface="MS PGothic"/>
                <a:cs typeface="Segoe UI Light"/>
              </a:rPr>
              <a:t>Reduced churn rate</a:t>
            </a:r>
            <a:endParaRPr lang="en-US" sz="2400" dirty="0">
              <a:solidFill>
                <a:schemeClr val="tx1">
                  <a:lumMod val="75000"/>
                </a:schemeClr>
              </a:solidFill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05684978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525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F87533E-4814-53DC-85CC-7A750B61B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111" y="1477043"/>
            <a:ext cx="5203633" cy="390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331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50" dirty="0">
                <a:ea typeface="MS PGothic"/>
                <a:cs typeface="Segoe UI"/>
              </a:rPr>
              <a:t>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88263" y="1189038"/>
            <a:ext cx="11603737" cy="517065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335915" indent="-335915">
              <a:buNone/>
            </a:pPr>
            <a:r>
              <a:rPr lang="en-US" sz="2400" dirty="0">
                <a:ea typeface="MS PGothic"/>
                <a:cs typeface="Segoe UI Light"/>
              </a:rPr>
              <a:t>An ideal multi-region app architecture</a:t>
            </a:r>
            <a:endParaRPr lang="en-US" sz="2400" dirty="0">
              <a:cs typeface="Segoe UI Light"/>
            </a:endParaRPr>
          </a:p>
        </p:txBody>
      </p:sp>
      <p:pic>
        <p:nvPicPr>
          <p:cNvPr id="2" name="Picture 2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96F8732D-5F49-404A-B469-30C0FD2A3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797" y="2100059"/>
            <a:ext cx="7719151" cy="430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04534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50" dirty="0"/>
              <a:t>Monitoring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88263" y="1189038"/>
            <a:ext cx="11603737" cy="2895408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ea typeface="MS PGothic"/>
                <a:cs typeface="Segoe UI Light"/>
              </a:rPr>
              <a:t>Setup alerts on your app-service or VM metrics</a:t>
            </a: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ea typeface="MS PGothic"/>
                <a:cs typeface="Segoe UI Light"/>
              </a:rPr>
              <a:t>Avg. Memory consumption metric is your best friend.</a:t>
            </a: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ea typeface="MS PGothic"/>
                <a:cs typeface="Segoe UI Light"/>
              </a:rPr>
              <a:t>Monitor using app insights or metrics blade of the resource.</a:t>
            </a: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ea typeface="MS PGothic"/>
                <a:cs typeface="Segoe UI Light"/>
              </a:rPr>
              <a:t>Use load testing to understand app </a:t>
            </a:r>
            <a:r>
              <a:rPr lang="en-US" sz="2000" dirty="0" err="1">
                <a:solidFill>
                  <a:schemeClr val="tx1">
                    <a:lumMod val="75000"/>
                  </a:schemeClr>
                </a:solidFill>
                <a:ea typeface="MS PGothic"/>
                <a:cs typeface="Segoe UI Light"/>
              </a:rPr>
              <a:t>behaviour</a:t>
            </a:r>
            <a:r>
              <a:rPr lang="en-US" sz="2000" dirty="0">
                <a:solidFill>
                  <a:schemeClr val="tx1">
                    <a:lumMod val="75000"/>
                  </a:schemeClr>
                </a:solidFill>
                <a:ea typeface="MS PGothic"/>
                <a:cs typeface="Segoe UI Light"/>
              </a:rPr>
              <a:t> and tune to match expected SLA.</a:t>
            </a:r>
            <a:endParaRPr lang="en-US" sz="2000" dirty="0">
              <a:solidFill>
                <a:schemeClr val="tx1">
                  <a:lumMod val="75000"/>
                </a:schemeClr>
              </a:solidFill>
              <a:cs typeface="Segoe UI Light"/>
            </a:endParaRPr>
          </a:p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Segoe UI Light"/>
              </a:rPr>
              <a:t>Setup dev/acceptance with robust monitoring</a:t>
            </a:r>
          </a:p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Segoe UI Light"/>
              </a:rPr>
              <a:t>Limit monitoring on production apps to avoid bottlenecks</a:t>
            </a:r>
            <a:endParaRPr lang="en-US" sz="2400" dirty="0">
              <a:solidFill>
                <a:schemeClr val="tx1">
                  <a:lumMod val="75000"/>
                </a:schemeClr>
              </a:solidFill>
              <a:cs typeface="Segoe UI"/>
            </a:endParaRPr>
          </a:p>
          <a:p>
            <a:pPr marL="335915" indent="-335915"/>
            <a:endParaRPr lang="en-US" sz="2400" dirty="0">
              <a:solidFill>
                <a:schemeClr val="tx1">
                  <a:lumMod val="75000"/>
                </a:schemeClr>
              </a:solidFill>
              <a:latin typeface="Segoe UI Light"/>
              <a:ea typeface="MS PGothic"/>
              <a:cs typeface="Segoe UI Light"/>
            </a:endParaRPr>
          </a:p>
          <a:p>
            <a:pPr marL="572135" lvl="1" indent="-236220"/>
            <a:endParaRPr lang="en-US" sz="850" dirty="0">
              <a:solidFill>
                <a:schemeClr val="tx1">
                  <a:lumMod val="75000"/>
                </a:schemeClr>
              </a:solidFill>
              <a:latin typeface="Segoe UI Light"/>
              <a:ea typeface="MS PGothic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83566803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50" dirty="0">
                <a:ea typeface="MS PGothic"/>
                <a:cs typeface="Segoe UI"/>
              </a:rPr>
              <a:t>Resiliency on Azure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88263" y="1189038"/>
            <a:ext cx="11603737" cy="3843360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Segoe UI Light"/>
              </a:rPr>
              <a:t>If you are serving </a:t>
            </a:r>
            <a:r>
              <a:rPr lang="en-US" sz="2400" u="sng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Segoe UI Light"/>
              </a:rPr>
              <a:t>HTTP </a:t>
            </a: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Segoe UI Light"/>
              </a:rPr>
              <a:t>traffic</a:t>
            </a: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latin typeface="Segoe UI"/>
                <a:ea typeface="MS PGothic"/>
                <a:cs typeface="Segoe UI Light"/>
              </a:rPr>
              <a:t>Azure Front Door</a:t>
            </a:r>
          </a:p>
          <a:p>
            <a:pPr marL="784225" lvl="2" indent="-223520"/>
            <a:r>
              <a:rPr lang="en-US" sz="1600" dirty="0">
                <a:solidFill>
                  <a:schemeClr val="tx1">
                    <a:lumMod val="75000"/>
                  </a:schemeClr>
                </a:solidFill>
                <a:latin typeface="Segoe UI"/>
                <a:ea typeface="MS PGothic"/>
                <a:cs typeface="Segoe UI Light"/>
              </a:rPr>
              <a:t>Optionally setup fire wall to secure access</a:t>
            </a:r>
          </a:p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Segoe UI Light"/>
              </a:rPr>
              <a:t>If you are serving traffic over </a:t>
            </a:r>
            <a:r>
              <a:rPr lang="en-US" sz="2400" u="sng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Segoe UI Light"/>
              </a:rPr>
              <a:t>HTTP, TCP or UDP</a:t>
            </a: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Segoe UI Light"/>
              </a:rPr>
              <a:t> protocol</a:t>
            </a: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latin typeface="Segoe UI"/>
                <a:ea typeface="MS PGothic"/>
                <a:cs typeface="Segoe UI Light"/>
              </a:rPr>
              <a:t>Traffic Manager</a:t>
            </a:r>
          </a:p>
          <a:p>
            <a:pPr marL="784225" lvl="2" indent="-223520"/>
            <a:r>
              <a:rPr lang="en-US" sz="1600" dirty="0">
                <a:solidFill>
                  <a:schemeClr val="tx1">
                    <a:lumMod val="75000"/>
                  </a:schemeClr>
                </a:solidFill>
                <a:latin typeface="Segoe UI"/>
                <a:ea typeface="MS PGothic"/>
                <a:cs typeface="Segoe UI Light"/>
              </a:rPr>
              <a:t>DNS level load balancer</a:t>
            </a:r>
          </a:p>
          <a:p>
            <a:pPr marL="784225" lvl="2" indent="-223520"/>
            <a:r>
              <a:rPr lang="en-US" sz="1600" dirty="0">
                <a:solidFill>
                  <a:srgbClr val="161616"/>
                </a:solidFill>
                <a:ea typeface="+mn-lt"/>
                <a:cs typeface="+mn-lt"/>
              </a:rPr>
              <a:t>Is 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ea typeface="+mn-lt"/>
                <a:cs typeface="+mn-lt"/>
              </a:rPr>
              <a:t>resilient </a:t>
            </a:r>
            <a:r>
              <a:rPr lang="en-US" sz="1600" dirty="0">
                <a:solidFill>
                  <a:srgbClr val="161616"/>
                </a:solidFill>
                <a:ea typeface="+mn-lt"/>
                <a:cs typeface="+mn-lt"/>
              </a:rPr>
              <a:t>to failure, including the failure of an entire Azure region.</a:t>
            </a:r>
            <a:endParaRPr lang="en-US" sz="1600" dirty="0">
              <a:solidFill>
                <a:schemeClr val="tx1">
                  <a:lumMod val="75000"/>
                </a:schemeClr>
              </a:solidFill>
              <a:latin typeface="Segoe UI"/>
              <a:ea typeface="MS PGothic"/>
              <a:cs typeface="Segoe UI Light"/>
            </a:endParaRPr>
          </a:p>
          <a:p>
            <a:pPr marL="0" indent="0">
              <a:buNone/>
            </a:pPr>
            <a:endParaRPr lang="en-US" sz="2400" dirty="0">
              <a:ea typeface="+mj-lt"/>
              <a:cs typeface="+mj-lt"/>
            </a:endParaRPr>
          </a:p>
          <a:p>
            <a:pPr marL="0" indent="0">
              <a:buNone/>
            </a:pPr>
            <a:r>
              <a:rPr lang="en-US" sz="2400" dirty="0">
                <a:ea typeface="+mj-lt"/>
                <a:cs typeface="+mj-lt"/>
                <a:hlinkClick r:id="rId3"/>
              </a:rPr>
              <a:t>https://bit.ly/az-load-balance</a:t>
            </a:r>
            <a:endParaRPr lang="en-US" sz="2400">
              <a:solidFill>
                <a:srgbClr val="161616"/>
              </a:solidFill>
              <a:latin typeface="Segoe UI"/>
              <a:ea typeface="MS PGothic"/>
              <a:cs typeface="Segoe UI"/>
            </a:endParaRPr>
          </a:p>
          <a:p>
            <a:pPr marL="0" indent="0">
              <a:buNone/>
            </a:pPr>
            <a:endParaRPr lang="en-US" sz="2400" dirty="0">
              <a:solidFill>
                <a:srgbClr val="505050"/>
              </a:solidFill>
              <a:latin typeface="Segoe UI Light"/>
              <a:ea typeface="MS PGothic"/>
              <a:cs typeface="Segoe UI Light"/>
            </a:endParaRPr>
          </a:p>
          <a:p>
            <a:pPr marL="572135" lvl="1" indent="-236220"/>
            <a:endParaRPr lang="en-US" sz="850" dirty="0">
              <a:solidFill>
                <a:srgbClr val="3C3C3C"/>
              </a:solidFill>
              <a:latin typeface="Segoe UI Light"/>
              <a:ea typeface="MS PGothic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07611926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50" dirty="0">
                <a:ea typeface="MS PGothic"/>
                <a:cs typeface="Segoe UI"/>
              </a:rPr>
              <a:t>Resiliency on app service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88263" y="1189038"/>
            <a:ext cx="11603737" cy="5265288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Segoe UI Light"/>
              </a:rPr>
              <a:t>Setup auto-scale for your VM or app services</a:t>
            </a: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Segoe UI Light"/>
              </a:rPr>
              <a:t>Use monitoring tools to understand app performance and demand</a:t>
            </a: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Segoe UI Light"/>
              </a:rPr>
              <a:t>Configure scale settings by CPU percentage or Memory consumption</a:t>
            </a: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+mj-lt"/>
              </a:rPr>
              <a:t>Anticipate traffic during festivals or holidays and schedule scale beforehand.</a:t>
            </a:r>
            <a:endParaRPr lang="en-US" dirty="0">
              <a:solidFill>
                <a:schemeClr val="tx1">
                  <a:lumMod val="75000"/>
                </a:schemeClr>
              </a:solidFill>
            </a:endParaRPr>
          </a:p>
          <a:p>
            <a:pPr marL="572135" lvl="1" indent="-236220"/>
            <a:endParaRPr lang="en-US" sz="2000" dirty="0">
              <a:solidFill>
                <a:schemeClr val="tx1">
                  <a:lumMod val="75000"/>
                </a:schemeClr>
              </a:solidFill>
              <a:latin typeface="Segoe UI Light"/>
              <a:ea typeface="MS PGothic"/>
              <a:cs typeface="+mj-lt"/>
            </a:endParaRPr>
          </a:p>
          <a:p>
            <a:pPr marL="335915" indent="-335915"/>
            <a:endParaRPr lang="en-US" sz="2400" dirty="0">
              <a:solidFill>
                <a:srgbClr val="3C3C3C"/>
              </a:solidFill>
              <a:ea typeface="MS PGothic"/>
              <a:cs typeface="+mj-lt"/>
            </a:endParaRPr>
          </a:p>
          <a:p>
            <a:pPr marL="335915" indent="-335915"/>
            <a:endParaRPr lang="en-US" sz="2400" dirty="0">
              <a:solidFill>
                <a:srgbClr val="3C3C3C"/>
              </a:solidFill>
              <a:ea typeface="MS PGothic"/>
              <a:cs typeface="+mj-lt"/>
            </a:endParaRPr>
          </a:p>
          <a:p>
            <a:pPr marL="0" indent="0">
              <a:buNone/>
            </a:pPr>
            <a:endParaRPr lang="en-US" sz="2400" dirty="0">
              <a:ea typeface="+mj-lt"/>
              <a:cs typeface="+mj-lt"/>
            </a:endParaRPr>
          </a:p>
          <a:p>
            <a:pPr marL="0" indent="0">
              <a:buNone/>
            </a:pPr>
            <a:endParaRPr lang="en-US" sz="2400" dirty="0">
              <a:ea typeface="+mj-lt"/>
              <a:cs typeface="+mj-lt"/>
            </a:endParaRPr>
          </a:p>
          <a:p>
            <a:pPr marL="0" indent="0">
              <a:buNone/>
            </a:pPr>
            <a:endParaRPr lang="en-US" sz="2400" dirty="0">
              <a:ea typeface="+mj-lt"/>
              <a:cs typeface="+mj-lt"/>
            </a:endParaRPr>
          </a:p>
          <a:p>
            <a:pPr marL="0" indent="0">
              <a:buNone/>
            </a:pPr>
            <a:r>
              <a:rPr lang="en-US" sz="2400" dirty="0">
                <a:ea typeface="+mj-lt"/>
                <a:cs typeface="+mj-lt"/>
                <a:hlinkClick r:id="rId3"/>
              </a:rPr>
              <a:t>https://bit.ly/az-auto-scale</a:t>
            </a:r>
            <a:endParaRPr lang="en-US" sz="2400">
              <a:solidFill>
                <a:schemeClr val="tx1">
                  <a:lumMod val="75000"/>
                </a:schemeClr>
              </a:solidFill>
              <a:latin typeface="Segoe UI Light"/>
              <a:ea typeface="MS PGothic"/>
              <a:cs typeface="Segoe UI Light"/>
            </a:endParaRPr>
          </a:p>
          <a:p>
            <a:pPr marL="335915" indent="-335915"/>
            <a:endParaRPr lang="en-US" sz="2400" dirty="0">
              <a:solidFill>
                <a:srgbClr val="505050"/>
              </a:solidFill>
              <a:latin typeface="Segoe UI Light"/>
              <a:ea typeface="MS PGothic"/>
              <a:cs typeface="Segoe UI Light"/>
            </a:endParaRPr>
          </a:p>
          <a:p>
            <a:pPr marL="0" indent="0">
              <a:buNone/>
            </a:pPr>
            <a:endParaRPr lang="en-US" sz="2400" dirty="0">
              <a:solidFill>
                <a:srgbClr val="505050"/>
              </a:solidFill>
              <a:latin typeface="Segoe UI Light"/>
              <a:ea typeface="MS PGothic"/>
              <a:cs typeface="Segoe UI Light"/>
            </a:endParaRPr>
          </a:p>
          <a:p>
            <a:pPr marL="572135" lvl="1" indent="-236220"/>
            <a:endParaRPr lang="en-US" sz="850" dirty="0">
              <a:solidFill>
                <a:srgbClr val="3C3C3C"/>
              </a:solidFill>
              <a:latin typeface="Segoe UI Light"/>
              <a:ea typeface="MS PGothic"/>
              <a:cs typeface="Segoe UI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D1C838-BDFA-397F-6D4F-BF7EEFAAC6C5}"/>
              </a:ext>
            </a:extLst>
          </p:cNvPr>
          <p:cNvSpPr/>
          <p:nvPr/>
        </p:nvSpPr>
        <p:spPr bwMode="auto">
          <a:xfrm>
            <a:off x="3086560" y="3160004"/>
            <a:ext cx="6018880" cy="914399"/>
          </a:xfrm>
          <a:prstGeom prst="rect">
            <a:avLst/>
          </a:prstGeom>
          <a:solidFill>
            <a:srgbClr val="FFFF00"/>
          </a:solidFill>
          <a:ln w="12700">
            <a:solidFill>
              <a:srgbClr val="4472C4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3C3C3C"/>
                </a:solidFill>
                <a:latin typeface="Segoe UI Light"/>
              </a:rPr>
              <a:t>Tip: Consider using 75% to 60 % as metric unit for a span of 10 </a:t>
            </a:r>
            <a:r>
              <a:rPr lang="en-US" sz="1600" dirty="0">
                <a:solidFill>
                  <a:srgbClr val="3C3C3C"/>
                </a:solidFill>
                <a:latin typeface="Segoe UI Light"/>
              </a:rPr>
              <a:t>mins to make sure the service can scale to meet high demand.</a:t>
            </a: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9BB096-7E68-EB62-F35D-BCF3615247B8}"/>
              </a:ext>
            </a:extLst>
          </p:cNvPr>
          <p:cNvSpPr/>
          <p:nvPr/>
        </p:nvSpPr>
        <p:spPr bwMode="auto">
          <a:xfrm>
            <a:off x="3086560" y="3848558"/>
            <a:ext cx="6018880" cy="753736"/>
          </a:xfrm>
          <a:prstGeom prst="rect">
            <a:avLst/>
          </a:prstGeom>
          <a:solidFill>
            <a:srgbClr val="0070C0"/>
          </a:solidFill>
          <a:ln w="12700">
            <a:solidFill>
              <a:srgbClr val="4472C4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bg1"/>
                </a:solidFill>
                <a:latin typeface="Segoe UI Light"/>
              </a:rPr>
              <a:t>Tip: Do not opt for Zone redundancy when setting a new app service plan. You may not need it just yet!</a:t>
            </a:r>
            <a:endParaRPr lang="en-US">
              <a:solidFill>
                <a:schemeClr val="bg1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1372541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50" dirty="0">
                <a:ea typeface="MS PGothic"/>
                <a:cs typeface="Segoe UI"/>
              </a:rPr>
              <a:t>Resiliency... 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88263" y="1189038"/>
            <a:ext cx="11603737" cy="4452757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+mj-lt"/>
              </a:rPr>
              <a:t>Consider moving your SQL from VM to Azure SQL</a:t>
            </a: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+mj-lt"/>
              </a:rPr>
              <a:t>Azure SQL is PaaS with built-in resiliency.</a:t>
            </a:r>
            <a:endParaRPr lang="en-US" sz="2000" dirty="0">
              <a:solidFill>
                <a:schemeClr val="tx1">
                  <a:lumMod val="75000"/>
                </a:schemeClr>
              </a:solidFill>
              <a:ea typeface="MS PGothic"/>
              <a:cs typeface="+mj-lt"/>
            </a:endParaRP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+mj-lt"/>
              </a:rPr>
              <a:t>Configure Geo-replication [Azure SQL only] to restore quickly in case of DC outage</a:t>
            </a: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+mj-lt"/>
              </a:rPr>
              <a:t>Tune the DTU or </a:t>
            </a:r>
            <a:r>
              <a:rPr lang="en-US" sz="2000" dirty="0" err="1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+mj-lt"/>
              </a:rPr>
              <a:t>VCore</a:t>
            </a:r>
            <a:r>
              <a:rPr lang="en-US" sz="20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+mj-lt"/>
              </a:rPr>
              <a:t> scale as per your volume of data and traffic to serve</a:t>
            </a:r>
            <a:endParaRPr lang="en-US" sz="2000" dirty="0">
              <a:solidFill>
                <a:schemeClr val="tx1">
                  <a:lumMod val="75000"/>
                </a:schemeClr>
              </a:solidFill>
              <a:ea typeface="MS PGothic"/>
              <a:cs typeface="+mj-lt"/>
            </a:endParaRP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+mj-lt"/>
              </a:rPr>
              <a:t>Start with DTU based pricing model, works great for most of us</a:t>
            </a:r>
          </a:p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+mj-lt"/>
              </a:rPr>
              <a:t>Setup backup even if done manually to restore in point</a:t>
            </a:r>
          </a:p>
          <a:p>
            <a:pPr marL="0" indent="0">
              <a:buNone/>
            </a:pPr>
            <a:endParaRPr lang="en-US" sz="2400" dirty="0">
              <a:solidFill>
                <a:srgbClr val="505050"/>
              </a:solidFill>
              <a:ea typeface="MS PGothic"/>
              <a:cs typeface="+mj-lt"/>
            </a:endParaRPr>
          </a:p>
          <a:p>
            <a:pPr marL="0" indent="0">
              <a:buNone/>
            </a:pPr>
            <a:endParaRPr lang="en-US" sz="2400" dirty="0">
              <a:ea typeface="MS PGothic"/>
              <a:cs typeface="+mj-lt"/>
            </a:endParaRPr>
          </a:p>
          <a:p>
            <a:pPr marL="0" indent="0">
              <a:buNone/>
            </a:pPr>
            <a:r>
              <a:rPr lang="en-US" sz="2400" dirty="0">
                <a:ea typeface="+mj-lt"/>
                <a:cs typeface="+mj-lt"/>
                <a:hlinkClick r:id="rId3"/>
              </a:rPr>
              <a:t>https://bit.ly/az-sql-ha</a:t>
            </a:r>
            <a:endParaRPr lang="en-US">
              <a:cs typeface="Segoe UI Light"/>
            </a:endParaRPr>
          </a:p>
          <a:p>
            <a:pPr marL="335915" indent="-335915"/>
            <a:endParaRPr lang="en-US" sz="2400" dirty="0">
              <a:solidFill>
                <a:srgbClr val="505050"/>
              </a:solidFill>
              <a:latin typeface="Segoe UI Light"/>
              <a:ea typeface="MS PGothic"/>
              <a:cs typeface="Segoe UI Light"/>
            </a:endParaRPr>
          </a:p>
          <a:p>
            <a:pPr marL="0" indent="0">
              <a:buNone/>
            </a:pPr>
            <a:endParaRPr lang="en-US" sz="2400" dirty="0">
              <a:solidFill>
                <a:srgbClr val="505050"/>
              </a:solidFill>
              <a:latin typeface="Segoe UI Light"/>
              <a:ea typeface="MS PGothic"/>
              <a:cs typeface="Segoe UI Light"/>
            </a:endParaRPr>
          </a:p>
          <a:p>
            <a:pPr marL="572135" lvl="1" indent="-236220"/>
            <a:endParaRPr lang="en-US" sz="850" dirty="0">
              <a:solidFill>
                <a:srgbClr val="3C3C3C"/>
              </a:solidFill>
              <a:latin typeface="Segoe UI Light"/>
              <a:ea typeface="MS PGothic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69128367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MS PGothic"/>
                <a:cs typeface="Segoe UI"/>
              </a:rPr>
              <a:t>Demo</a:t>
            </a:r>
            <a:br>
              <a:rPr lang="en-US" sz="8600" dirty="0"/>
            </a:br>
            <a:r>
              <a:rPr lang="en-US" sz="3600" dirty="0">
                <a:ea typeface="MS PGothic"/>
                <a:cs typeface="Segoe UI"/>
              </a:rPr>
              <a:t>Resilient app service and auto-scale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55727976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50" dirty="0">
                <a:ea typeface="MS PGothic"/>
                <a:cs typeface="Segoe UI"/>
              </a:rPr>
              <a:t>Load testing</a:t>
            </a:r>
            <a:endParaRPr lang="en-US" sz="525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88263" y="1189038"/>
            <a:ext cx="11603737" cy="3911071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335915" indent="-335915"/>
            <a:r>
              <a:rPr lang="en-US" sz="2400" dirty="0">
                <a:solidFill>
                  <a:schemeClr val="tx1">
                    <a:lumMod val="75000"/>
                  </a:schemeClr>
                </a:solidFill>
                <a:ea typeface="MS PGothic"/>
                <a:cs typeface="Segoe UI Light"/>
              </a:rPr>
              <a:t>Use Load testing service from Azure</a:t>
            </a: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ea typeface="MS PGothic"/>
                <a:cs typeface="Segoe UI Light"/>
              </a:rPr>
              <a:t>Cost friendly</a:t>
            </a:r>
            <a:endParaRPr lang="en-US" dirty="0">
              <a:solidFill>
                <a:schemeClr val="tx1">
                  <a:lumMod val="75000"/>
                </a:schemeClr>
              </a:solidFill>
            </a:endParaRP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latin typeface="Segoe UI"/>
                <a:ea typeface="MS PGothic"/>
                <a:cs typeface="Segoe UI Light"/>
              </a:rPr>
              <a:t>No code testing service</a:t>
            </a:r>
            <a:endParaRPr lang="en-US" sz="2000" dirty="0">
              <a:solidFill>
                <a:schemeClr val="tx1">
                  <a:lumMod val="75000"/>
                </a:schemeClr>
              </a:solidFill>
              <a:latin typeface="Segoe UI"/>
              <a:cs typeface="Segoe UI Light"/>
            </a:endParaRP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latin typeface="Segoe UI"/>
                <a:ea typeface="MS PGothic"/>
                <a:cs typeface="Segoe UI Light"/>
              </a:rPr>
              <a:t>Collect key insights on app performance</a:t>
            </a:r>
            <a:endParaRPr lang="en-US" sz="2000" dirty="0">
              <a:solidFill>
                <a:schemeClr val="tx1">
                  <a:lumMod val="75000"/>
                </a:schemeClr>
              </a:solidFill>
              <a:latin typeface="Segoe UI"/>
              <a:cs typeface="Segoe UI Light"/>
            </a:endParaRPr>
          </a:p>
          <a:p>
            <a:pPr marL="572135" lvl="1" indent="-236220"/>
            <a:r>
              <a:rPr lang="en-US" sz="2000" dirty="0">
                <a:ea typeface="+mn-lt"/>
                <a:cs typeface="+mn-lt"/>
                <a:hlinkClick r:id="rId3"/>
              </a:rPr>
              <a:t>https://bit.ly/az-load-testing</a:t>
            </a:r>
            <a:endParaRPr lang="en-US" sz="2000">
              <a:solidFill>
                <a:schemeClr val="tx1">
                  <a:lumMod val="75000"/>
                </a:schemeClr>
              </a:solidFill>
              <a:latin typeface="Segoe UI Light"/>
              <a:cs typeface="Segoe UI Light"/>
            </a:endParaRPr>
          </a:p>
          <a:p>
            <a:pPr marL="335915" indent="-335915"/>
            <a:r>
              <a:rPr lang="en-US" sz="2400" dirty="0">
                <a:ea typeface="+mj-lt"/>
                <a:cs typeface="+mj-lt"/>
              </a:rPr>
              <a:t>Use availability testing using you are using app insights</a:t>
            </a:r>
          </a:p>
          <a:p>
            <a:pPr marL="572135" lvl="1" indent="-236220"/>
            <a:r>
              <a:rPr lang="en-US" sz="2000" dirty="0">
                <a:ea typeface="+mj-lt"/>
                <a:cs typeface="+mj-lt"/>
                <a:hlinkClick r:id="rId4"/>
              </a:rPr>
              <a:t>https://bit.ly/az-insights-avail-testing</a:t>
            </a:r>
            <a:r>
              <a:rPr lang="en-US" sz="2000" dirty="0">
                <a:ea typeface="+mj-lt"/>
                <a:cs typeface="+mj-lt"/>
              </a:rPr>
              <a:t> </a:t>
            </a:r>
            <a:endParaRPr lang="en-US" sz="2000">
              <a:solidFill>
                <a:srgbClr val="505050"/>
              </a:solidFill>
              <a:latin typeface="Segoe UI Light"/>
              <a:cs typeface="Segoe UI"/>
            </a:endParaRPr>
          </a:p>
          <a:p>
            <a:pPr marL="572135" lvl="1" indent="-236220"/>
            <a:endParaRPr lang="en-US" sz="2000" dirty="0">
              <a:solidFill>
                <a:srgbClr val="505050"/>
              </a:solidFill>
              <a:latin typeface="Segoe UI"/>
              <a:cs typeface="Segoe UI"/>
            </a:endParaRPr>
          </a:p>
          <a:p>
            <a:pPr marL="0" indent="0">
              <a:buNone/>
            </a:pPr>
            <a:endParaRPr lang="en-US" sz="2400" dirty="0">
              <a:solidFill>
                <a:schemeClr val="tx1">
                  <a:lumMod val="75000"/>
                </a:schemeClr>
              </a:solidFill>
              <a:latin typeface="Segoe UI Light"/>
              <a:cs typeface="Segoe UI Light"/>
            </a:endParaRPr>
          </a:p>
          <a:p>
            <a:pPr marL="335915" indent="-335915"/>
            <a:endParaRPr lang="en-US" sz="2400" dirty="0">
              <a:solidFill>
                <a:schemeClr val="tx1">
                  <a:lumMod val="75000"/>
                </a:schemeClr>
              </a:solidFill>
              <a:latin typeface="Segoe UI Light"/>
              <a:ea typeface="MS PGothic"/>
              <a:cs typeface="Segoe UI Light"/>
            </a:endParaRPr>
          </a:p>
          <a:p>
            <a:pPr marL="572135" lvl="1" indent="-236220"/>
            <a:endParaRPr lang="en-US" sz="850" dirty="0">
              <a:solidFill>
                <a:schemeClr val="tx1">
                  <a:lumMod val="75000"/>
                </a:schemeClr>
              </a:solidFill>
              <a:latin typeface="Segoe UI Light"/>
              <a:ea typeface="MS PGothic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1670964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MS PGothic"/>
                <a:cs typeface="Segoe UI"/>
              </a:rPr>
              <a:t>Demo</a:t>
            </a:r>
            <a:br>
              <a:rPr lang="en-US" sz="8600" dirty="0"/>
            </a:br>
            <a:r>
              <a:rPr lang="en-US" sz="3600" dirty="0">
                <a:ea typeface="MS PGothic"/>
                <a:cs typeface="Segoe UI"/>
              </a:rPr>
              <a:t>Load testing app service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00556095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50" dirty="0">
                <a:ea typeface="MS PGothic"/>
                <a:cs typeface="Segoe UI"/>
              </a:rPr>
              <a:t>Extras</a:t>
            </a:r>
            <a:endParaRPr lang="en-US" sz="525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88263" y="1189038"/>
            <a:ext cx="11603737" cy="3775649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335915" indent="-335915"/>
            <a:r>
              <a:rPr lang="en-IN" sz="2400" dirty="0">
                <a:solidFill>
                  <a:srgbClr val="000000"/>
                </a:solidFill>
                <a:effectLst/>
                <a:hlinkClick r:id="rId3"/>
              </a:rPr>
              <a:t>Load balancing decision helper</a:t>
            </a:r>
            <a:endParaRPr lang="en-IN" sz="2400" dirty="0">
              <a:solidFill>
                <a:srgbClr val="000000"/>
              </a:solidFill>
              <a:effectLst/>
            </a:endParaRPr>
          </a:p>
          <a:p>
            <a:pPr marL="335915" indent="-335915"/>
            <a:r>
              <a:rPr lang="en-IN" sz="2400" dirty="0">
                <a:solidFill>
                  <a:srgbClr val="000000"/>
                </a:solidFill>
                <a:effectLst/>
                <a:hlinkClick r:id="rId4"/>
              </a:rPr>
              <a:t>Best practices for cloud apps</a:t>
            </a:r>
            <a:endParaRPr lang="en-IN" sz="2400" dirty="0">
              <a:solidFill>
                <a:srgbClr val="000000"/>
              </a:solidFill>
            </a:endParaRPr>
          </a:p>
          <a:p>
            <a:pPr marL="335915" indent="-335915"/>
            <a:r>
              <a:rPr lang="en-IN" sz="2400" dirty="0">
                <a:solidFill>
                  <a:srgbClr val="000000"/>
                </a:solidFill>
                <a:effectLst/>
                <a:hlinkClick r:id="rId5"/>
              </a:rPr>
              <a:t>Cloud app design patterns</a:t>
            </a:r>
            <a:endParaRPr lang="en-US" sz="2400" dirty="0">
              <a:ea typeface="+mj-lt"/>
              <a:cs typeface="+mj-lt"/>
              <a:hlinkClick r:id="rId6"/>
            </a:endParaRPr>
          </a:p>
          <a:p>
            <a:pPr marL="335915" indent="-335915"/>
            <a:r>
              <a:rPr lang="en-US" sz="2400" dirty="0">
                <a:ea typeface="+mj-lt"/>
                <a:cs typeface="+mj-lt"/>
                <a:hlinkClick r:id="rId6"/>
              </a:rPr>
              <a:t>https://bit.ly/pls-az-wtu</a:t>
            </a:r>
            <a:r>
              <a:rPr lang="en-US" sz="2400" dirty="0">
                <a:ea typeface="+mj-lt"/>
                <a:cs typeface="+mj-lt"/>
              </a:rPr>
              <a:t> </a:t>
            </a:r>
            <a:endParaRPr lang="en-US" sz="2400" dirty="0">
              <a:solidFill>
                <a:schemeClr val="tx1">
                  <a:lumMod val="75000"/>
                </a:schemeClr>
              </a:solidFill>
              <a:latin typeface="Segoe UI Light"/>
              <a:cs typeface="+mj-lt"/>
            </a:endParaRPr>
          </a:p>
          <a:p>
            <a:pPr marL="572135" lvl="1" indent="-236220"/>
            <a:r>
              <a:rPr lang="en-US" sz="2000" dirty="0">
                <a:solidFill>
                  <a:schemeClr val="tx1">
                    <a:lumMod val="75000"/>
                  </a:schemeClr>
                </a:solidFill>
                <a:latin typeface="Segoe UI Light"/>
                <a:ea typeface="MS PGothic"/>
                <a:cs typeface="+mj-lt"/>
              </a:rPr>
              <a:t>Get the right perspective on what to use when on MS Azure</a:t>
            </a:r>
            <a:endParaRPr lang="en-US" sz="2000" dirty="0">
              <a:solidFill>
                <a:schemeClr val="tx1">
                  <a:lumMod val="75000"/>
                </a:schemeClr>
              </a:solidFill>
              <a:cs typeface="Segoe UI Light"/>
            </a:endParaRPr>
          </a:p>
          <a:p>
            <a:pPr marL="335915" indent="-335915"/>
            <a:r>
              <a:rPr lang="en-US" sz="2400" dirty="0">
                <a:ea typeface="+mj-lt"/>
                <a:cs typeface="+mj-lt"/>
                <a:hlinkClick r:id="rId7"/>
              </a:rPr>
              <a:t>https://bit.ly/hm-az-reactor-pulumi</a:t>
            </a:r>
            <a:endParaRPr lang="en-US" sz="2400" dirty="0">
              <a:solidFill>
                <a:srgbClr val="505050"/>
              </a:solidFill>
              <a:latin typeface="Segoe UI Light"/>
              <a:ea typeface="MS PGothic"/>
              <a:cs typeface="+mj-lt"/>
            </a:endParaRPr>
          </a:p>
          <a:p>
            <a:pPr marL="572135" lvl="1" indent="-236220"/>
            <a:r>
              <a:rPr lang="en-US" sz="2000" dirty="0">
                <a:latin typeface="+mj-lt"/>
                <a:ea typeface="+mj-lt"/>
                <a:cs typeface="+mj-lt"/>
              </a:rPr>
              <a:t>Session on using </a:t>
            </a:r>
            <a:r>
              <a:rPr lang="en-US" sz="2000" dirty="0" err="1">
                <a:latin typeface="+mj-lt"/>
                <a:ea typeface="+mj-lt"/>
                <a:cs typeface="+mj-lt"/>
              </a:rPr>
              <a:t>Pulumi</a:t>
            </a:r>
            <a:r>
              <a:rPr lang="en-US" sz="2000" dirty="0">
                <a:latin typeface="+mj-lt"/>
                <a:ea typeface="+mj-lt"/>
                <a:cs typeface="+mj-lt"/>
              </a:rPr>
              <a:t> as framework for </a:t>
            </a:r>
            <a:r>
              <a:rPr lang="en-US" sz="2000" dirty="0" err="1">
                <a:latin typeface="+mj-lt"/>
                <a:ea typeface="+mj-lt"/>
                <a:cs typeface="+mj-lt"/>
              </a:rPr>
              <a:t>IaC</a:t>
            </a:r>
            <a:r>
              <a:rPr lang="en-US" sz="2000" dirty="0">
                <a:latin typeface="+mj-lt"/>
                <a:ea typeface="+mj-lt"/>
                <a:cs typeface="+mj-lt"/>
              </a:rPr>
              <a:t> [Infrastructure as code]</a:t>
            </a:r>
          </a:p>
          <a:p>
            <a:pPr marL="335915" indent="-335915"/>
            <a:endParaRPr lang="en-US" sz="2400" dirty="0">
              <a:ea typeface="MS PGothic"/>
              <a:cs typeface="+mj-lt"/>
            </a:endParaRPr>
          </a:p>
          <a:p>
            <a:pPr marL="0" indent="0">
              <a:buNone/>
            </a:pPr>
            <a:endParaRPr lang="en-US" sz="2400" dirty="0">
              <a:solidFill>
                <a:srgbClr val="505050"/>
              </a:solidFill>
              <a:latin typeface="Segoe UI Light"/>
              <a:ea typeface="MS PGothic"/>
              <a:cs typeface="Segoe UI Light"/>
            </a:endParaRPr>
          </a:p>
          <a:p>
            <a:pPr marL="572135" lvl="1" indent="-236220"/>
            <a:endParaRPr lang="en-US" sz="850" dirty="0">
              <a:solidFill>
                <a:srgbClr val="3C3C3C"/>
              </a:solidFill>
              <a:latin typeface="Segoe UI Light"/>
              <a:ea typeface="MS PGothic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23514139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50" dirty="0">
                <a:ea typeface="MS PGothic"/>
                <a:cs typeface="Segoe UI"/>
              </a:rPr>
              <a:t>Conclusion</a:t>
            </a:r>
            <a:endParaRPr lang="en-US" sz="525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88263" y="1189038"/>
            <a:ext cx="11603737" cy="4723601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335915" indent="-335915"/>
            <a:r>
              <a:rPr lang="en-US" sz="2400" dirty="0">
                <a:ea typeface="MS PGothic"/>
                <a:cs typeface="+mj-lt"/>
              </a:rPr>
              <a:t>Monitoring business critical services</a:t>
            </a:r>
            <a:endParaRPr lang="en-US" sz="2400" dirty="0">
              <a:solidFill>
                <a:srgbClr val="505050"/>
              </a:solidFill>
              <a:latin typeface="Segoe UI Light"/>
              <a:ea typeface="MS PGothic"/>
              <a:cs typeface="Segoe UI Light"/>
            </a:endParaRPr>
          </a:p>
          <a:p>
            <a:pPr marL="572135" lvl="1" indent="-236220"/>
            <a:r>
              <a:rPr lang="en-US" sz="20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Collect minimum analytics for production apps</a:t>
            </a:r>
          </a:p>
          <a:p>
            <a:pPr marL="572135" lvl="1" indent="-236220"/>
            <a:r>
              <a:rPr lang="en-US" sz="20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Tip: Set </a:t>
            </a:r>
            <a:r>
              <a:rPr lang="en-US" sz="2000" u="sng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data cap</a:t>
            </a:r>
            <a:r>
              <a:rPr lang="en-US" sz="20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 and </a:t>
            </a:r>
            <a:r>
              <a:rPr lang="en-US" sz="2000" u="sng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retention </a:t>
            </a:r>
            <a:r>
              <a:rPr lang="en-US" sz="20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as per your business requirements</a:t>
            </a:r>
          </a:p>
          <a:p>
            <a:pPr marL="335915" indent="-335915"/>
            <a:r>
              <a:rPr lang="en-US" sz="24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Alerts on service performance metrics</a:t>
            </a:r>
          </a:p>
          <a:p>
            <a:pPr marL="572135" lvl="1" indent="-236220"/>
            <a:r>
              <a:rPr lang="en-US" sz="20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Setup email alerts</a:t>
            </a:r>
            <a:endParaRPr lang="en-US" sz="850" dirty="0">
              <a:solidFill>
                <a:srgbClr val="505050"/>
              </a:solidFill>
              <a:latin typeface="Segoe UI Light"/>
              <a:ea typeface="MS PGothic"/>
              <a:cs typeface="Segoe UI Light"/>
            </a:endParaRPr>
          </a:p>
          <a:p>
            <a:pPr marL="335915" indent="-335915"/>
            <a:r>
              <a:rPr lang="en-US" sz="24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Auto-scale where required</a:t>
            </a:r>
          </a:p>
          <a:p>
            <a:pPr marL="572135" lvl="1" indent="-236220"/>
            <a:r>
              <a:rPr lang="en-US" sz="20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Memory consumption metric works best</a:t>
            </a:r>
            <a:endParaRPr lang="en-US" sz="850" dirty="0">
              <a:solidFill>
                <a:srgbClr val="505050"/>
              </a:solidFill>
              <a:latin typeface="Segoe UI Light"/>
              <a:ea typeface="MS PGothic"/>
              <a:cs typeface="Segoe UI Light"/>
            </a:endParaRPr>
          </a:p>
          <a:p>
            <a:pPr marL="335915" indent="-335915"/>
            <a:r>
              <a:rPr lang="en-US" sz="24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Utilize load testing proactively</a:t>
            </a:r>
          </a:p>
          <a:p>
            <a:pPr marL="572135" lvl="1" indent="-236220"/>
            <a:r>
              <a:rPr lang="en-US" sz="20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Setup </a:t>
            </a:r>
            <a:r>
              <a:rPr lang="en-US" sz="2000" u="sng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Azure load testing </a:t>
            </a:r>
            <a:r>
              <a:rPr lang="en-US" sz="20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or use </a:t>
            </a:r>
            <a:r>
              <a:rPr lang="en-US" sz="2000" u="sng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availability testing</a:t>
            </a:r>
            <a:r>
              <a:rPr lang="en-US" sz="20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 under app service</a:t>
            </a:r>
          </a:p>
          <a:p>
            <a:pPr marL="572135" lvl="1" indent="-236220"/>
            <a:r>
              <a:rPr lang="en-US" sz="20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Consider using tools such as </a:t>
            </a:r>
            <a:r>
              <a:rPr lang="en-US" sz="2000" dirty="0" err="1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PostMan</a:t>
            </a:r>
            <a:r>
              <a:rPr lang="en-US" sz="2000" dirty="0">
                <a:solidFill>
                  <a:srgbClr val="505050"/>
                </a:solidFill>
                <a:latin typeface="Segoe UI Light"/>
                <a:ea typeface="MS PGothic"/>
                <a:cs typeface="Segoe UI Light"/>
              </a:rPr>
              <a:t> Runner or JMeter for developer simulation.</a:t>
            </a:r>
            <a:endParaRPr lang="en-US" sz="850" dirty="0">
              <a:solidFill>
                <a:srgbClr val="505050"/>
              </a:solidFill>
              <a:latin typeface="Segoe UI Light"/>
              <a:ea typeface="MS PGothic"/>
              <a:cs typeface="Segoe UI Light"/>
            </a:endParaRPr>
          </a:p>
          <a:p>
            <a:pPr marL="335915" indent="-335915"/>
            <a:endParaRPr lang="en-US" sz="2400" dirty="0">
              <a:solidFill>
                <a:srgbClr val="505050"/>
              </a:solidFill>
              <a:latin typeface="Segoe UI Light"/>
              <a:ea typeface="MS PGothic"/>
              <a:cs typeface="Segoe UI Light"/>
            </a:endParaRPr>
          </a:p>
          <a:p>
            <a:pPr marL="0" indent="0">
              <a:buNone/>
            </a:pPr>
            <a:endParaRPr lang="en-US" sz="2400" dirty="0">
              <a:solidFill>
                <a:srgbClr val="505050"/>
              </a:solidFill>
              <a:latin typeface="Segoe UI Light"/>
              <a:ea typeface="MS PGothic"/>
              <a:cs typeface="Segoe UI Light"/>
            </a:endParaRPr>
          </a:p>
          <a:p>
            <a:pPr marL="572135" lvl="1" indent="-236220"/>
            <a:endParaRPr lang="en-US" sz="850" dirty="0">
              <a:solidFill>
                <a:srgbClr val="3C3C3C"/>
              </a:solidFill>
              <a:latin typeface="Segoe UI Light"/>
              <a:ea typeface="MS PGothic"/>
              <a:cs typeface="Segoe U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A87EE0-EFB8-4F83-394B-FF16C1651818}"/>
              </a:ext>
            </a:extLst>
          </p:cNvPr>
          <p:cNvSpPr txBox="1"/>
          <p:nvPr/>
        </p:nvSpPr>
        <p:spPr>
          <a:xfrm>
            <a:off x="8578921" y="4325420"/>
            <a:ext cx="369397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5407551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F7B10F6-405C-4C3C-ACA1-4580785B20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" y="6470336"/>
            <a:ext cx="12192000" cy="387178"/>
          </a:xfrm>
          <a:prstGeom prst="rect">
            <a:avLst/>
          </a:prstGeom>
          <a:solidFill>
            <a:srgbClr val="EAEAE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FF0936-4476-4271-97AD-A8CC5C334C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70973" y="2705904"/>
            <a:ext cx="6480677" cy="1202893"/>
          </a:xfrm>
        </p:spPr>
        <p:txBody>
          <a:bodyPr vert="horz" wrap="square" lIns="0" tIns="0" rIns="0" bIns="0" rtlCol="0" anchor="t">
            <a:spAutoFit/>
          </a:bodyPr>
          <a:lstStyle/>
          <a:p>
            <a:pPr marL="0" indent="0">
              <a:spcAft>
                <a:spcPts val="4705"/>
              </a:spcAft>
              <a:buNone/>
            </a:pPr>
            <a:r>
              <a:rPr lang="en-US" sz="1950" dirty="0">
                <a:solidFill>
                  <a:schemeClr val="accent6">
                    <a:lumMod val="75000"/>
                  </a:schemeClr>
                </a:solidFill>
                <a:latin typeface="Segoe UI Light"/>
                <a:ea typeface="MS PGothic"/>
                <a:cs typeface="Segoe UI Light"/>
              </a:rPr>
              <a:t>@mistryhardik05</a:t>
            </a:r>
          </a:p>
          <a:p>
            <a:pPr marL="0" indent="0">
              <a:spcAft>
                <a:spcPts val="4705"/>
              </a:spcAft>
              <a:buNone/>
            </a:pPr>
            <a:r>
              <a:rPr lang="en-US" sz="1950" dirty="0" err="1">
                <a:solidFill>
                  <a:schemeClr val="accent6">
                    <a:lumMod val="75000"/>
                  </a:schemeClr>
                </a:solidFill>
                <a:latin typeface="Segoe UI Light"/>
                <a:ea typeface="MS PGothic"/>
                <a:cs typeface="Segoe UI Light"/>
              </a:rPr>
              <a:t>hardik@appmattic.com</a:t>
            </a:r>
            <a:endParaRPr lang="en-US" sz="1950" dirty="0">
              <a:solidFill>
                <a:schemeClr val="accent6">
                  <a:lumMod val="75000"/>
                </a:schemeClr>
              </a:solidFill>
              <a:latin typeface="Segoe UI Light"/>
              <a:ea typeface="MS PGothic"/>
              <a:cs typeface="Segoe UI Light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720109-9ACB-4044-AEF6-77DF7BD3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you. Questions?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A05508-F879-4818-ACFB-C6E44F5956D5}"/>
              </a:ext>
            </a:extLst>
          </p:cNvPr>
          <p:cNvSpPr txBox="1"/>
          <p:nvPr/>
        </p:nvSpPr>
        <p:spPr>
          <a:xfrm>
            <a:off x="889741" y="1478168"/>
            <a:ext cx="3184960" cy="829805"/>
          </a:xfrm>
          <a:prstGeom prst="rect">
            <a:avLst/>
          </a:prstGeom>
          <a:noFill/>
        </p:spPr>
        <p:txBody>
          <a:bodyPr wrap="none" lIns="179285" tIns="143428" rIns="179285" bIns="143428" rtlCol="0" anchor="t">
            <a:spAutoFit/>
          </a:bodyPr>
          <a:lstStyle/>
          <a:p>
            <a:pPr>
              <a:lnSpc>
                <a:spcPct val="90000"/>
              </a:lnSpc>
              <a:spcAft>
                <a:spcPts val="588"/>
              </a:spcAft>
            </a:pPr>
            <a:r>
              <a:rPr lang="en-US" sz="3900" dirty="0">
                <a:solidFill>
                  <a:srgbClr val="0078D7"/>
                </a:solidFill>
              </a:rPr>
              <a:t>#gab24mum</a:t>
            </a:r>
            <a:endParaRPr lang="en-US" sz="3921" dirty="0">
              <a:solidFill>
                <a:srgbClr val="0078D7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D9D3F2-FEE2-4346-A730-D9834838C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27966" y="2588422"/>
            <a:ext cx="544382" cy="544382"/>
            <a:chOff x="995982" y="3239142"/>
            <a:chExt cx="555298" cy="55529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EE0948F-DF9A-4C7D-8491-81114183D31A}"/>
                </a:ext>
              </a:extLst>
            </p:cNvPr>
            <p:cNvSpPr/>
            <p:nvPr/>
          </p:nvSpPr>
          <p:spPr bwMode="auto">
            <a:xfrm>
              <a:off x="995982" y="3239142"/>
              <a:ext cx="555298" cy="555298"/>
            </a:xfrm>
            <a:prstGeom prst="ellipse">
              <a:avLst/>
            </a:prstGeom>
            <a:solidFill>
              <a:srgbClr val="EAEAE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353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0A8C9E03-DE8C-4C60-B0BA-FBFF343C2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5074" y="3371297"/>
              <a:ext cx="367991" cy="299300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A226638A-90A7-49A9-9D9E-955613A4C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305" y="1715766"/>
            <a:ext cx="6306834" cy="491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9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SVID_White_16x9_2012-08-18">
  <a:themeElements>
    <a:clrScheme name="Server and Cloud">
      <a:dk1>
        <a:srgbClr val="505050"/>
      </a:dk1>
      <a:lt1>
        <a:srgbClr val="FFFFFF"/>
      </a:lt1>
      <a:dk2>
        <a:srgbClr val="008272"/>
      </a:dk2>
      <a:lt2>
        <a:srgbClr val="D2D2D2"/>
      </a:lt2>
      <a:accent1>
        <a:srgbClr val="0072C6"/>
      </a:accent1>
      <a:accent2>
        <a:srgbClr val="DC3C00"/>
      </a:accent2>
      <a:accent3>
        <a:srgbClr val="008272"/>
      </a:accent3>
      <a:accent4>
        <a:srgbClr val="68217A"/>
      </a:accent4>
      <a:accent5>
        <a:srgbClr val="002050"/>
      </a:accent5>
      <a:accent6>
        <a:srgbClr val="442359"/>
      </a:accent6>
      <a:hlink>
        <a:srgbClr val="002050"/>
      </a:hlink>
      <a:folHlink>
        <a:srgbClr val="002050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1356</Words>
  <Application>Microsoft Macintosh PowerPoint</Application>
  <PresentationFormat>Widescreen</PresentationFormat>
  <Paragraphs>178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Segoe Pro SemiLight</vt:lpstr>
      <vt:lpstr>Segoe UI</vt:lpstr>
      <vt:lpstr>Segoe UI Light</vt:lpstr>
      <vt:lpstr>Segoe UI Semilight</vt:lpstr>
      <vt:lpstr>Wingdings</vt:lpstr>
      <vt:lpstr>MSVID_White_16x9_2012-08-18</vt:lpstr>
      <vt:lpstr>Reliable services with Microsoft Azure</vt:lpstr>
      <vt:lpstr>The challenges</vt:lpstr>
      <vt:lpstr>What is HA/DR?</vt:lpstr>
      <vt:lpstr>Why is HA/DR important?</vt:lpstr>
      <vt:lpstr>PowerPoint Presentation</vt:lpstr>
      <vt:lpstr>Overview</vt:lpstr>
      <vt:lpstr>Monitoring</vt:lpstr>
      <vt:lpstr>Resiliency on Azure</vt:lpstr>
      <vt:lpstr>Resiliency on app service</vt:lpstr>
      <vt:lpstr>Resiliency... </vt:lpstr>
      <vt:lpstr>Demo Resilient app service and auto-scale</vt:lpstr>
      <vt:lpstr>Load testing</vt:lpstr>
      <vt:lpstr>Demo Load testing app service</vt:lpstr>
      <vt:lpstr>Extras</vt:lpstr>
      <vt:lpstr>Conclusion</vt:lpstr>
      <vt:lpstr>Thank you.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0 to 60  with VSTS and Azure</dc:title>
  <dc:creator>Hardik Mistry</dc:creator>
  <cp:keywords>App Innovation Circles</cp:keywords>
  <cp:lastModifiedBy>Hardik Mistry</cp:lastModifiedBy>
  <cp:revision>528</cp:revision>
  <dcterms:created xsi:type="dcterms:W3CDTF">2016-03-27T17:19:19Z</dcterms:created>
  <dcterms:modified xsi:type="dcterms:W3CDTF">2024-04-29T03:05:09Z</dcterms:modified>
</cp:coreProperties>
</file>